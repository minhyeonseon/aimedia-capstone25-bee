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27"/>
  </p:notesMasterIdLst>
  <p:sldIdLst>
    <p:sldId id="331" r:id="rId2"/>
    <p:sldId id="419" r:id="rId3"/>
    <p:sldId id="259" r:id="rId4"/>
    <p:sldId id="438" r:id="rId5"/>
    <p:sldId id="450" r:id="rId6"/>
    <p:sldId id="421" r:id="rId7"/>
    <p:sldId id="434" r:id="rId8"/>
    <p:sldId id="435" r:id="rId9"/>
    <p:sldId id="451" r:id="rId10"/>
    <p:sldId id="458" r:id="rId11"/>
    <p:sldId id="459" r:id="rId12"/>
    <p:sldId id="456" r:id="rId13"/>
    <p:sldId id="452" r:id="rId14"/>
    <p:sldId id="453" r:id="rId15"/>
    <p:sldId id="454" r:id="rId16"/>
    <p:sldId id="460" r:id="rId17"/>
    <p:sldId id="455" r:id="rId18"/>
    <p:sldId id="457" r:id="rId19"/>
    <p:sldId id="386" r:id="rId20"/>
    <p:sldId id="370" r:id="rId21"/>
    <p:sldId id="336" r:id="rId22"/>
    <p:sldId id="446" r:id="rId23"/>
    <p:sldId id="341" r:id="rId24"/>
    <p:sldId id="425" r:id="rId25"/>
    <p:sldId id="350" r:id="rId26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0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0A3C0"/>
    <a:srgbClr val="060A0C"/>
    <a:srgbClr val="33CC33"/>
    <a:srgbClr val="008000"/>
    <a:srgbClr val="00CC00"/>
    <a:srgbClr val="E2E2E2"/>
    <a:srgbClr val="003E78"/>
    <a:srgbClr val="00234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744"/>
  </p:normalViewPr>
  <p:slideViewPr>
    <p:cSldViewPr snapToGrid="0">
      <p:cViewPr varScale="1">
        <p:scale>
          <a:sx n="116" d="100"/>
          <a:sy n="116" d="100"/>
        </p:scale>
        <p:origin x="400" y="176"/>
      </p:cViewPr>
      <p:guideLst>
        <p:guide orient="horz" pos="2251"/>
        <p:guide pos="30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971C3-2FE8-A041-81A8-50F459037EA8}" type="datetimeFigureOut">
              <a:rPr kumimoji="1" lang="ko-Kore-KR" altLang="en-US" smtClean="0"/>
              <a:t>9/8/25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D0568-9006-0845-A338-543A1244C0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652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80397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3522-4F19-9172-0B14-B1E6BB42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4C129-7E7E-52E7-AE9D-886801AC3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A51F61-EDCA-8D17-739B-C24A8AB64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취약점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설명후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이로인해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공격자는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스마트워치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무선 키보드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의료기기 등에서 민감한 데이터를 탈취하거나 기기를 원격 조작하는 등 심각한 피해를 유발할 수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며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환경의 신뢰성과 안전성에 큰 위협이 된다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Bluetooth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가장 위험한 취약점 중 하나는 중간자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(MITM, Man-in-the-Middle)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공격이다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공격은 공격자가 두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Bluetooth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장치 사이의 통신을 가로채고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모르게 메시지를 조작하거나 도청할 수 있도록 한다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Works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같은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페어링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방식은 암호화 키 교환 시 인증을 생략하거나 약화시켜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공격자가 쉽게 연결을 가로챌 수 있는 구조적 취약점을 가진다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 인해 공격자는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스마트워치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무선 키보드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의료기기 등에서 민감한 데이터를 탈취하거나 기기를 원격 조작하는 등 심각한 피해를 유발할 수 있으며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환경의 신뢰성과 안전성에 큰 위협이 된다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Works: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Bluetooth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사용되는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페어링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 중 하나로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ko-KR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개입 없이 간단하게 두 장치를 연결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있도록 설계된 방식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BB4CA-985B-99A0-EF30-5B6E32CD6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72444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98442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실제로 </a:t>
            </a:r>
            <a:r>
              <a:rPr kumimoji="1" lang="ko-KR" altLang="en-US" dirty="0" err="1"/>
              <a:t>지터값이</a:t>
            </a:r>
            <a:r>
              <a:rPr kumimoji="1" lang="ko-KR" altLang="en-US" dirty="0"/>
              <a:t> 불규칙해지는 현상 확인 완료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47375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0679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31303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solidFill>
                  <a:schemeClr val="tx1"/>
                </a:solidFill>
              </a:rPr>
              <a:t>단순 패턴 매칭 기반 보안 솔루션의 한계를 넘어</a:t>
            </a:r>
            <a:r>
              <a:rPr lang="en-US" altLang="ko-KR" sz="1200" dirty="0">
                <a:solidFill>
                  <a:schemeClr val="tx1"/>
                </a:solidFill>
              </a:rPr>
              <a:t> </a:t>
            </a:r>
            <a:r>
              <a:rPr lang="en-US" altLang="ko-KR" sz="1200" b="1" dirty="0">
                <a:solidFill>
                  <a:schemeClr val="tx1"/>
                </a:solidFill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</a:rPr>
              <a:t>기반 실시간 패킷 이상 탐지 기법</a:t>
            </a:r>
            <a:r>
              <a:rPr lang="ko-KR" altLang="en-US" sz="1200" dirty="0">
                <a:solidFill>
                  <a:schemeClr val="tx1"/>
                </a:solidFill>
              </a:rPr>
              <a:t>을 제안하여 방어 체계 고도화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0044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9F59C82-3FA6-6D40-A96C-5D212AF0FF43}"/>
              </a:ext>
            </a:extLst>
          </p:cNvPr>
          <p:cNvSpPr/>
          <p:nvPr userDrawn="1"/>
        </p:nvSpPr>
        <p:spPr>
          <a:xfrm>
            <a:off x="0" y="0"/>
            <a:ext cx="9906000" cy="648393"/>
          </a:xfrm>
          <a:prstGeom prst="rect">
            <a:avLst/>
          </a:prstGeom>
          <a:gradFill flip="none" rotWithShape="1">
            <a:gsLst>
              <a:gs pos="0">
                <a:srgbClr val="1A93CA"/>
              </a:gs>
              <a:gs pos="76000">
                <a:srgbClr val="003E78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0AD84-9EBA-191C-5802-459ADD1DAD8F}"/>
              </a:ext>
            </a:extLst>
          </p:cNvPr>
          <p:cNvSpPr txBox="1">
            <a:spLocks/>
          </p:cNvSpPr>
          <p:nvPr userDrawn="1"/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927E6-8B9F-0640-88B8-E9C1DF982289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624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EB69-FD53-C743-B21E-723777EB6C09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89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2917B-A0D4-C04B-8C35-E3513FB2B74E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/>
            </a:lvl1pPr>
          </a:lstStyle>
          <a:p>
            <a:fld id="{873927E6-8B9F-0640-88B8-E9C1DF982289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AB29D0-3CA3-9343-9A04-93AA93ED551A}"/>
              </a:ext>
            </a:extLst>
          </p:cNvPr>
          <p:cNvSpPr/>
          <p:nvPr userDrawn="1"/>
        </p:nvSpPr>
        <p:spPr>
          <a:xfrm>
            <a:off x="0" y="0"/>
            <a:ext cx="9906000" cy="648393"/>
          </a:xfrm>
          <a:prstGeom prst="rect">
            <a:avLst/>
          </a:prstGeom>
          <a:gradFill flip="none" rotWithShape="1">
            <a:gsLst>
              <a:gs pos="0">
                <a:srgbClr val="1985B7"/>
              </a:gs>
              <a:gs pos="47000">
                <a:srgbClr val="003E78"/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6226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0730-2B45-E946-A0B3-9E71CE126F28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390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8F16-6EE0-7348-BF8B-42B6A9BB0833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9848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848C-E409-6F49-BAB6-BD0AF5FB5CB1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684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CED9-FA0B-0345-907F-9788E37A5CC3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1818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7A055-92A9-8341-8328-584F0FF08675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8884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E10E-6312-2D4C-A939-34ED7F65D512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293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884E-6282-B34E-98FB-0E24489849B5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521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6533-AC09-B146-8216-8715EF62E7C1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10611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38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0E586-C19F-5E48-BADB-7CB3B062922F}" type="datetime1">
              <a:rPr kumimoji="1" lang="ko-KR" altLang="en-US" smtClean="0"/>
              <a:t>2025. 9. 8.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7469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8BB3481A-BFD8-F447-B6B6-19A724743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13" name="자유형 12">
            <a:extLst>
              <a:ext uri="{FF2B5EF4-FFF2-40B4-BE49-F238E27FC236}">
                <a16:creationId xmlns:a16="http://schemas.microsoft.com/office/drawing/2014/main" id="{998016EB-A1E2-D94B-B6AB-7123EB7E534E}"/>
              </a:ext>
            </a:extLst>
          </p:cNvPr>
          <p:cNvSpPr/>
          <p:nvPr/>
        </p:nvSpPr>
        <p:spPr>
          <a:xfrm rot="10800000">
            <a:off x="2927927" y="0"/>
            <a:ext cx="6978058" cy="6858000"/>
          </a:xfrm>
          <a:custGeom>
            <a:avLst/>
            <a:gdLst>
              <a:gd name="connsiteX0" fmla="*/ 0 w 1765197"/>
              <a:gd name="connsiteY0" fmla="*/ 0 h 1504102"/>
              <a:gd name="connsiteX1" fmla="*/ 847064 w 1765197"/>
              <a:gd name="connsiteY1" fmla="*/ 0 h 1504102"/>
              <a:gd name="connsiteX2" fmla="*/ 1765197 w 1765197"/>
              <a:gd name="connsiteY2" fmla="*/ 1504102 h 1504102"/>
              <a:gd name="connsiteX3" fmla="*/ 0 w 1765197"/>
              <a:gd name="connsiteY3" fmla="*/ 1504102 h 150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5197" h="1504102">
                <a:moveTo>
                  <a:pt x="0" y="0"/>
                </a:moveTo>
                <a:lnTo>
                  <a:pt x="847064" y="0"/>
                </a:lnTo>
                <a:lnTo>
                  <a:pt x="1765197" y="1504102"/>
                </a:lnTo>
                <a:lnTo>
                  <a:pt x="0" y="1504102"/>
                </a:lnTo>
                <a:close/>
              </a:path>
            </a:pathLst>
          </a:custGeom>
          <a:solidFill>
            <a:schemeClr val="bg1">
              <a:alpha val="9077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ore-KR" altLang="en-US" sz="36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3D0680-3692-4345-87C2-B7B6DB724C5D}"/>
              </a:ext>
            </a:extLst>
          </p:cNvPr>
          <p:cNvSpPr txBox="1"/>
          <p:nvPr/>
        </p:nvSpPr>
        <p:spPr>
          <a:xfrm>
            <a:off x="4298600" y="1997827"/>
            <a:ext cx="5479384" cy="95410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/>
            <a:r>
              <a:rPr kumimoji="1" lang="ko-KR" altLang="en-US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무선 네트워크</a:t>
            </a:r>
            <a:r>
              <a:rPr kumimoji="1" lang="en-US" altLang="ko-KR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 </a:t>
            </a:r>
            <a:r>
              <a:rPr kumimoji="1" lang="ko-KR" altLang="en-US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프로토콜 취약점 및 </a:t>
            </a:r>
            <a:endParaRPr kumimoji="1" lang="en-US" altLang="ko-KR" sz="2800" b="1" spc="-150" dirty="0">
              <a:gradFill>
                <a:gsLst>
                  <a:gs pos="0">
                    <a:srgbClr val="1A93CA"/>
                  </a:gs>
                  <a:gs pos="76000">
                    <a:srgbClr val="00498E"/>
                  </a:gs>
                </a:gsLst>
                <a:lin ang="5400000" scaled="1"/>
              </a:gradFill>
              <a:latin typeface="나눔스퀘어 ExtraBold" panose="020B0600000101010101" pitchFamily="50" charset="-127"/>
              <a:ea typeface="나눔스퀘어 ExtraBold"/>
              <a:cs typeface="Malayalam MN" pitchFamily="2" charset="0"/>
            </a:endParaRPr>
          </a:p>
          <a:p>
            <a:pPr algn="r"/>
            <a:r>
              <a:rPr kumimoji="1" lang="en-US" altLang="ko-KR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AR</a:t>
            </a:r>
            <a:r>
              <a:rPr kumimoji="1" lang="ko-KR" altLang="en-US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기기에서 악용 사례 분석 연구</a:t>
            </a:r>
            <a:endParaRPr kumimoji="1" lang="en-US" altLang="ko-KR" sz="2800" b="1" spc="-150" dirty="0">
              <a:gradFill>
                <a:gsLst>
                  <a:gs pos="0">
                    <a:srgbClr val="1A93CA"/>
                  </a:gs>
                  <a:gs pos="76000">
                    <a:srgbClr val="00498E"/>
                  </a:gs>
                </a:gsLst>
                <a:lin ang="5400000" scaled="1"/>
              </a:gra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layalam MN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B266F-50AF-DE41-A3A5-B1DABA675C67}"/>
              </a:ext>
            </a:extLst>
          </p:cNvPr>
          <p:cNvSpPr txBox="1"/>
          <p:nvPr/>
        </p:nvSpPr>
        <p:spPr>
          <a:xfrm>
            <a:off x="6570017" y="3610216"/>
            <a:ext cx="3220753" cy="836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2000"/>
              </a:lnSpc>
            </a:pP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지도교수</a:t>
            </a:r>
            <a:r>
              <a:rPr kumimoji="1" lang="en-US" altLang="ko-KR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: </a:t>
            </a: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지능미디어공학과 이아현 교수님</a:t>
            </a:r>
            <a:endParaRPr kumimoji="1" lang="en-US" altLang="ko-KR" sz="14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pPr algn="r">
              <a:lnSpc>
                <a:spcPts val="2000"/>
              </a:lnSpc>
            </a:pP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지능미디어공하과 </a:t>
            </a:r>
            <a:r>
              <a:rPr kumimoji="1" lang="en-US" altLang="ko-KR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20221095</a:t>
            </a: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 민현선</a:t>
            </a:r>
            <a:endParaRPr kumimoji="1" lang="en-US" altLang="ko-KR" sz="14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pPr algn="r">
              <a:lnSpc>
                <a:spcPts val="2000"/>
              </a:lnSpc>
            </a:pP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지능미디어공학과 </a:t>
            </a:r>
            <a:r>
              <a:rPr kumimoji="1" lang="en-US" altLang="ko-KR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20221110</a:t>
            </a: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 이다은</a:t>
            </a:r>
            <a:endParaRPr kumimoji="1" lang="en-US" altLang="ko-KR" sz="14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C135D-0F5E-4842-97E7-0B31C1030568}"/>
              </a:ext>
            </a:extLst>
          </p:cNvPr>
          <p:cNvSpPr txBox="1"/>
          <p:nvPr/>
        </p:nvSpPr>
        <p:spPr>
          <a:xfrm>
            <a:off x="8560951" y="3234909"/>
            <a:ext cx="12298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1600">
                <a:solidFill>
                  <a:schemeClr val="bg2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2025.09.08.</a:t>
            </a:r>
            <a:endParaRPr kumimoji="1" lang="ko-Kore-KR" altLang="en-US" sz="1600" dirty="0">
              <a:solidFill>
                <a:schemeClr val="bg2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F040AC2-1922-7A4D-8BA0-A44029B3F9CB}"/>
              </a:ext>
            </a:extLst>
          </p:cNvPr>
          <p:cNvSpPr/>
          <p:nvPr/>
        </p:nvSpPr>
        <p:spPr>
          <a:xfrm>
            <a:off x="6675120" y="1532817"/>
            <a:ext cx="3115648" cy="29893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2025 </a:t>
            </a:r>
            <a:r>
              <a:rPr kumimoji="1" lang="ko-KR" altLang="en-US" sz="16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캡스톤디자인</a:t>
            </a:r>
            <a:r>
              <a:rPr kumimoji="1" lang="en-US" altLang="ko-KR" sz="16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</a:t>
            </a:r>
            <a:r>
              <a:rPr kumimoji="1" lang="ko-KR" altLang="en-US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 계획발표</a:t>
            </a:r>
            <a:endParaRPr kumimoji="1" lang="ko-Kore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08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7AC703-0EDE-884D-9AFF-1DBCBADB24A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ore-KR" altLang="en-US" sz="3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46E7CE-59A0-994C-AC52-A735D5AD3B7A}"/>
              </a:ext>
            </a:extLst>
          </p:cNvPr>
          <p:cNvSpPr txBox="1"/>
          <p:nvPr/>
        </p:nvSpPr>
        <p:spPr>
          <a:xfrm>
            <a:off x="1019375" y="642978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6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endParaRPr kumimoji="1" lang="ko-Kore-KR" altLang="en-US" sz="3600" b="1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C6D574B-40E5-1640-91E5-B37B94A59566}"/>
              </a:ext>
            </a:extLst>
          </p:cNvPr>
          <p:cNvGrpSpPr/>
          <p:nvPr/>
        </p:nvGrpSpPr>
        <p:grpSpPr>
          <a:xfrm>
            <a:off x="788664" y="2436031"/>
            <a:ext cx="1935009" cy="527706"/>
            <a:chOff x="3701646" y="1672067"/>
            <a:chExt cx="1935009" cy="527706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8B8F7EB3-769C-504F-85F4-48F4229512C8}"/>
                </a:ext>
              </a:extLst>
            </p:cNvPr>
            <p:cNvGrpSpPr/>
            <p:nvPr/>
          </p:nvGrpSpPr>
          <p:grpSpPr>
            <a:xfrm>
              <a:off x="3701646" y="1672067"/>
              <a:ext cx="527705" cy="527706"/>
              <a:chOff x="4484695" y="4252021"/>
              <a:chExt cx="580476" cy="580476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6D1E1D78-98B9-0F42-92EC-2C2131C2CFD0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750BB218-57A3-B044-8E54-2124DA880911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A2E0"/>
                  </a:gs>
                  <a:gs pos="100000">
                    <a:srgbClr val="0172B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5C2B8CB5-672A-8A4F-AB69-8D136FB8C0B6}"/>
                  </a:ext>
                </a:extLst>
              </p:cNvPr>
              <p:cNvSpPr/>
              <p:nvPr/>
            </p:nvSpPr>
            <p:spPr>
              <a:xfrm>
                <a:off x="4530810" y="4354360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 dirty="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Ⅱ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2" name="원형 101">
                <a:extLst>
                  <a:ext uri="{FF2B5EF4-FFF2-40B4-BE49-F238E27FC236}">
                    <a16:creationId xmlns:a16="http://schemas.microsoft.com/office/drawing/2014/main" id="{5D7D24E6-2B2A-8D45-8488-5423EE7790F1}"/>
                  </a:ext>
                </a:extLst>
              </p:cNvPr>
              <p:cNvSpPr/>
              <p:nvPr/>
            </p:nvSpPr>
            <p:spPr>
              <a:xfrm rot="21118652">
                <a:off x="4514170" y="4281461"/>
                <a:ext cx="524241" cy="524240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6B88946-DCFE-614A-8940-0C65129D0AF6}"/>
                </a:ext>
              </a:extLst>
            </p:cNvPr>
            <p:cNvSpPr/>
            <p:nvPr/>
          </p:nvSpPr>
          <p:spPr>
            <a:xfrm>
              <a:off x="4301033" y="1720469"/>
              <a:ext cx="1335622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 내용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FE56A39-35AE-D044-A90B-6D823CEEA60D}"/>
              </a:ext>
            </a:extLst>
          </p:cNvPr>
          <p:cNvGrpSpPr/>
          <p:nvPr/>
        </p:nvGrpSpPr>
        <p:grpSpPr>
          <a:xfrm>
            <a:off x="788664" y="1654514"/>
            <a:ext cx="1935007" cy="527705"/>
            <a:chOff x="977329" y="1628824"/>
            <a:chExt cx="1935007" cy="527705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4B5DD961-0816-534A-BB51-5C30E1908C27}"/>
                </a:ext>
              </a:extLst>
            </p:cNvPr>
            <p:cNvSpPr/>
            <p:nvPr/>
          </p:nvSpPr>
          <p:spPr>
            <a:xfrm>
              <a:off x="1576714" y="1677233"/>
              <a:ext cx="1335622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 목표</a:t>
              </a: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8A2BAEB-CA58-BB48-8192-7E7D9583C3D8}"/>
                </a:ext>
              </a:extLst>
            </p:cNvPr>
            <p:cNvGrpSpPr/>
            <p:nvPr/>
          </p:nvGrpSpPr>
          <p:grpSpPr>
            <a:xfrm>
              <a:off x="977329" y="1628824"/>
              <a:ext cx="527705" cy="527705"/>
              <a:chOff x="4484696" y="2651822"/>
              <a:chExt cx="580476" cy="580476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3531ADA7-0731-2D43-90F3-C8916E449A2F}"/>
                  </a:ext>
                </a:extLst>
              </p:cNvPr>
              <p:cNvSpPr/>
              <p:nvPr/>
            </p:nvSpPr>
            <p:spPr>
              <a:xfrm>
                <a:off x="4484696" y="2651822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3959C82-5156-8445-80F8-FBE312FFDB3F}"/>
                  </a:ext>
                </a:extLst>
              </p:cNvPr>
              <p:cNvSpPr/>
              <p:nvPr/>
            </p:nvSpPr>
            <p:spPr>
              <a:xfrm>
                <a:off x="4515782" y="2682908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59C4E1"/>
                  </a:gs>
                  <a:gs pos="100000">
                    <a:srgbClr val="39B8DB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7" name="원형 106">
                <a:extLst>
                  <a:ext uri="{FF2B5EF4-FFF2-40B4-BE49-F238E27FC236}">
                    <a16:creationId xmlns:a16="http://schemas.microsoft.com/office/drawing/2014/main" id="{25679DC9-A0FC-7545-8C92-FAD337FD2674}"/>
                  </a:ext>
                </a:extLst>
              </p:cNvPr>
              <p:cNvSpPr/>
              <p:nvPr/>
            </p:nvSpPr>
            <p:spPr>
              <a:xfrm rot="21118652">
                <a:off x="4514165" y="2681271"/>
                <a:ext cx="524241" cy="524242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597F709F-4F9B-664C-8A53-34CE1887E821}"/>
                  </a:ext>
                </a:extLst>
              </p:cNvPr>
              <p:cNvSpPr/>
              <p:nvPr/>
            </p:nvSpPr>
            <p:spPr>
              <a:xfrm>
                <a:off x="4530811" y="2749673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 dirty="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Ⅰ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4" name="오각형[P] 3">
            <a:extLst>
              <a:ext uri="{FF2B5EF4-FFF2-40B4-BE49-F238E27FC236}">
                <a16:creationId xmlns:a16="http://schemas.microsoft.com/office/drawing/2014/main" id="{0B86F582-3E73-8C4F-B2C7-0D08555093F5}"/>
              </a:ext>
            </a:extLst>
          </p:cNvPr>
          <p:cNvSpPr/>
          <p:nvPr/>
        </p:nvSpPr>
        <p:spPr>
          <a:xfrm>
            <a:off x="0" y="642978"/>
            <a:ext cx="973194" cy="489136"/>
          </a:xfrm>
          <a:prstGeom prst="homePlate">
            <a:avLst>
              <a:gd name="adj" fmla="val 268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2B1070A-BD36-3349-8EDB-73F9E8314C87}"/>
              </a:ext>
            </a:extLst>
          </p:cNvPr>
          <p:cNvGrpSpPr/>
          <p:nvPr/>
        </p:nvGrpSpPr>
        <p:grpSpPr>
          <a:xfrm>
            <a:off x="788664" y="3217549"/>
            <a:ext cx="3787439" cy="527705"/>
            <a:chOff x="7242100" y="1700322"/>
            <a:chExt cx="3787439" cy="527705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11F0C9A-CB1C-7D41-BD86-608AB89BB2F4}"/>
                </a:ext>
              </a:extLst>
            </p:cNvPr>
            <p:cNvGrpSpPr/>
            <p:nvPr/>
          </p:nvGrpSpPr>
          <p:grpSpPr>
            <a:xfrm>
              <a:off x="7242100" y="1700322"/>
              <a:ext cx="527705" cy="527705"/>
              <a:chOff x="4484695" y="4252021"/>
              <a:chExt cx="580476" cy="580476"/>
            </a:xfrm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2355ECC-8983-7B48-ABF1-CD7BBBB4151B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6D5DFCF5-195D-FE4E-B96D-91BD6C2EBB9C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A2E0"/>
                  </a:gs>
                  <a:gs pos="99000">
                    <a:srgbClr val="00498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1ED7BBC-E8FD-2740-B4E6-1A9B6560E205}"/>
                  </a:ext>
                </a:extLst>
              </p:cNvPr>
              <p:cNvSpPr/>
              <p:nvPr/>
            </p:nvSpPr>
            <p:spPr>
              <a:xfrm>
                <a:off x="4530811" y="4354360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 dirty="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Ⅲ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" name="원형 25">
                <a:extLst>
                  <a:ext uri="{FF2B5EF4-FFF2-40B4-BE49-F238E27FC236}">
                    <a16:creationId xmlns:a16="http://schemas.microsoft.com/office/drawing/2014/main" id="{DD63B9D7-9CF9-A84D-9387-6E8BD81CD01C}"/>
                  </a:ext>
                </a:extLst>
              </p:cNvPr>
              <p:cNvSpPr/>
              <p:nvPr/>
            </p:nvSpPr>
            <p:spPr>
              <a:xfrm rot="21118652">
                <a:off x="4514171" y="4287416"/>
                <a:ext cx="524241" cy="524241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AAFB3D-F2C7-4449-B594-28E41F0CAB10}"/>
                </a:ext>
              </a:extLst>
            </p:cNvPr>
            <p:cNvSpPr/>
            <p:nvPr/>
          </p:nvSpPr>
          <p:spPr>
            <a:xfrm>
              <a:off x="7841487" y="1748732"/>
              <a:ext cx="3188052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환경 및 예상 결과물</a:t>
              </a:r>
              <a:endParaRPr lang="en-US" altLang="ko-KR" sz="2200" b="1" spc="-120" dirty="0">
                <a:ln w="3175">
                  <a:solidFill>
                    <a:srgbClr val="102557">
                      <a:alpha val="10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2D9E87-1264-ECD3-CBC0-C6DDFE270365}"/>
              </a:ext>
            </a:extLst>
          </p:cNvPr>
          <p:cNvGrpSpPr/>
          <p:nvPr/>
        </p:nvGrpSpPr>
        <p:grpSpPr>
          <a:xfrm>
            <a:off x="784529" y="4027563"/>
            <a:ext cx="3085965" cy="527705"/>
            <a:chOff x="7242100" y="1700322"/>
            <a:chExt cx="3085965" cy="52770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CAD99F0-B3E3-0DA5-90BF-45BABD0B6816}"/>
                </a:ext>
              </a:extLst>
            </p:cNvPr>
            <p:cNvGrpSpPr/>
            <p:nvPr/>
          </p:nvGrpSpPr>
          <p:grpSpPr>
            <a:xfrm>
              <a:off x="7242100" y="1700322"/>
              <a:ext cx="527705" cy="527705"/>
              <a:chOff x="4484695" y="4252021"/>
              <a:chExt cx="580476" cy="580476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D697A849-7092-366F-C8CB-03ECD6517328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CFA3065-AD36-D935-B592-693466A222F9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5070"/>
                  </a:gs>
                  <a:gs pos="99000">
                    <a:srgbClr val="00498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082F492-FC88-A8BB-A8BB-AEC841DB3F66}"/>
                  </a:ext>
                </a:extLst>
              </p:cNvPr>
              <p:cNvSpPr/>
              <p:nvPr/>
            </p:nvSpPr>
            <p:spPr>
              <a:xfrm>
                <a:off x="4549789" y="4341707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ko-KR" altLang="en-US" sz="2000" b="1" spc="-70" dirty="0" err="1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Ⅳ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9C8DCC0-4AB1-268A-432E-FB27E3A20C79}"/>
                </a:ext>
              </a:extLst>
            </p:cNvPr>
            <p:cNvSpPr/>
            <p:nvPr/>
          </p:nvSpPr>
          <p:spPr>
            <a:xfrm>
              <a:off x="7841487" y="1748732"/>
              <a:ext cx="2486578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프로젝트 향후 계획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139295B-EAE7-93CE-3398-A2B9262D2E47}"/>
              </a:ext>
            </a:extLst>
          </p:cNvPr>
          <p:cNvGrpSpPr/>
          <p:nvPr/>
        </p:nvGrpSpPr>
        <p:grpSpPr>
          <a:xfrm>
            <a:off x="788664" y="4780583"/>
            <a:ext cx="1851012" cy="527705"/>
            <a:chOff x="7242100" y="1700322"/>
            <a:chExt cx="1851012" cy="52770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37C66F0C-AB2B-7D8C-D925-BFB95CE5A5D1}"/>
                </a:ext>
              </a:extLst>
            </p:cNvPr>
            <p:cNvGrpSpPr/>
            <p:nvPr/>
          </p:nvGrpSpPr>
          <p:grpSpPr>
            <a:xfrm>
              <a:off x="7242100" y="1700322"/>
              <a:ext cx="527705" cy="527705"/>
              <a:chOff x="4484695" y="4252021"/>
              <a:chExt cx="580476" cy="580476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0DBD525A-5873-B424-E815-2E6AA277B1C6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C9536CF6-5F82-5F4E-BBFC-3B023D50094F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5070"/>
                  </a:gs>
                  <a:gs pos="99000">
                    <a:srgbClr val="00498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862ADAE-102E-757B-DCEC-849D577C573B}"/>
                  </a:ext>
                </a:extLst>
              </p:cNvPr>
              <p:cNvSpPr/>
              <p:nvPr/>
            </p:nvSpPr>
            <p:spPr>
              <a:xfrm>
                <a:off x="4543153" y="4354360"/>
                <a:ext cx="450701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Ⅴ</a:t>
                </a:r>
                <a:endParaRPr lang="ko-KR" altLang="en-US" sz="2000" b="1" spc="-7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0" name="원형 42">
                <a:extLst>
                  <a:ext uri="{FF2B5EF4-FFF2-40B4-BE49-F238E27FC236}">
                    <a16:creationId xmlns:a16="http://schemas.microsoft.com/office/drawing/2014/main" id="{EA72A640-06C5-F697-0298-F00FB9569437}"/>
                  </a:ext>
                </a:extLst>
              </p:cNvPr>
              <p:cNvSpPr/>
              <p:nvPr/>
            </p:nvSpPr>
            <p:spPr>
              <a:xfrm rot="21118652">
                <a:off x="4514171" y="4287416"/>
                <a:ext cx="524241" cy="524241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60AAFEE-6B88-7F1F-E4E0-6C32C39EBF08}"/>
                </a:ext>
              </a:extLst>
            </p:cNvPr>
            <p:cNvSpPr/>
            <p:nvPr/>
          </p:nvSpPr>
          <p:spPr>
            <a:xfrm>
              <a:off x="7841487" y="1748732"/>
              <a:ext cx="1251625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기대효과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90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816654-703F-044E-AAD9-3A55F8EC7AD5}"/>
              </a:ext>
            </a:extLst>
          </p:cNvPr>
          <p:cNvSpPr/>
          <p:nvPr/>
        </p:nvSpPr>
        <p:spPr>
          <a:xfrm>
            <a:off x="272607" y="20444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Ⅰ.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연구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81640D-BC6C-1A4D-9995-95823E18B75F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무선 네트워크 프로토콜 취약점 및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AR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기기에서의 악용 사례 분석</a:t>
            </a:r>
            <a:endParaRPr kumimoji="1" lang="ko-KR" sz="1600" spc="-150" dirty="0">
              <a:solidFill>
                <a:srgbClr val="1A93C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522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29C2-441D-8E2F-86EA-F6F36002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6C9B60-20AA-8996-BE3F-5AA66918D97F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33641" algn="l"/>
              </a:tabLst>
              <a:defRPr/>
            </a:pPr>
            <a:r>
              <a:rPr kumimoji="0" lang="en-US" altLang="ko-KR" sz="2400" b="0" i="0" u="none" strike="noStrike" kern="1200" cap="none" spc="-70" normalizeH="0" baseline="0" noProof="0">
                <a:ln w="3175"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Ⅰ</a:t>
            </a:r>
            <a:r>
              <a:rPr kumimoji="1" lang="en-US" altLang="ko-KR" sz="24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24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목표</a:t>
            </a:r>
          </a:p>
        </p:txBody>
      </p:sp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FCF9CA01-D8A4-EE0B-2CFA-91935C15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3927E6-8B9F-0640-88B8-E9C1DF982289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94087-C348-8FF0-C80B-5DE5FBF27A9C}"/>
              </a:ext>
            </a:extLst>
          </p:cNvPr>
          <p:cNvGrpSpPr/>
          <p:nvPr/>
        </p:nvGrpSpPr>
        <p:grpSpPr>
          <a:xfrm>
            <a:off x="426707" y="835131"/>
            <a:ext cx="1312385" cy="400110"/>
            <a:chOff x="426707" y="780267"/>
            <a:chExt cx="1312385" cy="4001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362E1347-865E-827B-EEA9-3D5923A412BB}"/>
                </a:ext>
              </a:extLst>
            </p:cNvPr>
            <p:cNvSpPr/>
            <p:nvPr/>
          </p:nvSpPr>
          <p:spPr>
            <a:xfrm>
              <a:off x="528504" y="780267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Calibri" panose="020F0502020204030204"/>
                  <a:ea typeface="나눔스퀘어 ExtraBold" panose="020B0600000101010101" pitchFamily="50" charset="-127"/>
                </a:rPr>
                <a:t>연구 배경</a:t>
              </a:r>
              <a:endParaRPr kumimoji="0" lang="ko-Kore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6B5875D0-3352-F476-B329-D9DA1E599529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ore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8C27494-5919-5CE2-F895-FF0C0B9EEE6A}"/>
              </a:ext>
            </a:extLst>
          </p:cNvPr>
          <p:cNvSpPr txBox="1"/>
          <p:nvPr/>
        </p:nvSpPr>
        <p:spPr>
          <a:xfrm>
            <a:off x="540435" y="1349722"/>
            <a:ext cx="8825130" cy="1768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무선 네트워크 프로토콜 </a:t>
            </a:r>
            <a:r>
              <a:rPr lang="en-US" altLang="ko-KR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불안전한 암호화 방식 및 </a:t>
            </a:r>
            <a:r>
              <a:rPr lang="ko-KR" altLang="en-US" sz="16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페어링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방식에서 문제 존재</a:t>
            </a:r>
            <a:endParaRPr lang="en-US" alt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무선 네트워크 프로토콜 장비를 공격하여 취약점 확인 및 분석 </a:t>
            </a:r>
            <a:endParaRPr lang="en-US" alt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취약점 기반 새로운 보안 솔루션 구축하여 무선 프로토콜 보안 극대화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DBDC9E-6C37-C72C-819D-EE5E23B5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98" y="3513374"/>
            <a:ext cx="2606769" cy="26067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EC0A6A-9A63-AD96-E044-224415356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82" y="3533371"/>
            <a:ext cx="342674" cy="3426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821730-7953-01EF-D721-4132D7A7EC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870" r="1074"/>
          <a:stretch/>
        </p:blipFill>
        <p:spPr>
          <a:xfrm>
            <a:off x="2697849" y="4027584"/>
            <a:ext cx="2597970" cy="1726633"/>
          </a:xfrm>
          <a:prstGeom prst="rect">
            <a:avLst/>
          </a:prstGeom>
        </p:spPr>
      </p:pic>
      <p:pic>
        <p:nvPicPr>
          <p:cNvPr id="9" name="그림 8" descr="그래픽, 원, 디자인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1CF23B5-BC5A-A4BC-1C96-9D37F2143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849" y="3513374"/>
            <a:ext cx="456205" cy="456205"/>
          </a:xfrm>
          <a:prstGeom prst="rect">
            <a:avLst/>
          </a:prstGeom>
        </p:spPr>
      </p:pic>
      <p:pic>
        <p:nvPicPr>
          <p:cNvPr id="10" name="그림 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B3DF80-FF4D-21F8-FAB2-5962F1BCEA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5670" y="3463527"/>
            <a:ext cx="2054196" cy="205419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93F1E4-E901-047F-0C4F-76A84E5E33EA}"/>
              </a:ext>
            </a:extLst>
          </p:cNvPr>
          <p:cNvSpPr/>
          <p:nvPr/>
        </p:nvSpPr>
        <p:spPr>
          <a:xfrm>
            <a:off x="426707" y="3142930"/>
            <a:ext cx="5134062" cy="3078759"/>
          </a:xfrm>
          <a:prstGeom prst="rect">
            <a:avLst/>
          </a:prstGeom>
          <a:noFill/>
          <a:ln>
            <a:solidFill>
              <a:srgbClr val="23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2697039-D8C9-D757-7F6D-E1590B11C63D}"/>
              </a:ext>
            </a:extLst>
          </p:cNvPr>
          <p:cNvSpPr/>
          <p:nvPr/>
        </p:nvSpPr>
        <p:spPr>
          <a:xfrm rot="10800000">
            <a:off x="5694232" y="4249847"/>
            <a:ext cx="1678559" cy="75935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759CBE-7074-858C-FEBA-EB7346236D31}"/>
              </a:ext>
            </a:extLst>
          </p:cNvPr>
          <p:cNvSpPr txBox="1"/>
          <p:nvPr/>
        </p:nvSpPr>
        <p:spPr>
          <a:xfrm>
            <a:off x="6196130" y="4424471"/>
            <a:ext cx="107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Attack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5" name="그림 14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E7A56D-C554-1C5F-92FC-20D3AA1BEE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0645" y="3685435"/>
            <a:ext cx="649476" cy="6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5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FFC8-7828-627C-D8A8-47CB9F7B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ADC93F41-0AFB-0093-0F8F-B52BF5DF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5</a:t>
            </a:fld>
            <a:endParaRPr kumimoji="1" lang="ko-Kore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9266372-4B4A-D454-C786-D89BCD71C440}"/>
              </a:ext>
            </a:extLst>
          </p:cNvPr>
          <p:cNvSpPr/>
          <p:nvPr/>
        </p:nvSpPr>
        <p:spPr>
          <a:xfrm>
            <a:off x="5824727" y="4315968"/>
            <a:ext cx="3785213" cy="13098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ctr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7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연구 목표 </a:t>
            </a:r>
            <a:endParaRPr lang="en-US" altLang="ko-KR" sz="1700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KoPubWorld돋움체_Pro Bold" panose="00000800000000000000" pitchFamily="50" charset="-127"/>
            </a:endParaRPr>
          </a:p>
          <a:p>
            <a:pPr lvl="0" algn="ctr">
              <a:spcBef>
                <a:spcPts val="600"/>
              </a:spcBef>
            </a:pPr>
            <a:r>
              <a:rPr lang="ko-KR" altLang="en-US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기존 방식보다 강화된 </a:t>
            </a:r>
            <a:r>
              <a:rPr lang="en-US" altLang="ko-KR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기반</a:t>
            </a:r>
            <a:endParaRPr lang="en-US" altLang="ko-KR" sz="1700" dirty="0">
              <a:solidFill>
                <a:srgbClr val="0000F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KoPubWorld돋움체_Pro Bold" panose="00000800000000000000" pitchFamily="50" charset="-127"/>
            </a:endParaRPr>
          </a:p>
          <a:p>
            <a:pPr lvl="0" algn="ctr">
              <a:spcBef>
                <a:spcPts val="600"/>
              </a:spcBef>
            </a:pPr>
            <a:r>
              <a:rPr lang="ko-KR" altLang="en-US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보안 솔루션 구축 </a:t>
            </a:r>
            <a:endParaRPr lang="en-US" altLang="ko-KR" sz="1700" dirty="0">
              <a:solidFill>
                <a:srgbClr val="0000F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DC2B2F4-A18C-39E0-ABD7-84AC2FC4BA50}"/>
              </a:ext>
            </a:extLst>
          </p:cNvPr>
          <p:cNvGrpSpPr/>
          <p:nvPr/>
        </p:nvGrpSpPr>
        <p:grpSpPr>
          <a:xfrm>
            <a:off x="426707" y="835131"/>
            <a:ext cx="1190557" cy="400110"/>
            <a:chOff x="426707" y="780267"/>
            <a:chExt cx="1190557" cy="40011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1CF4F9E-3BF1-FAEC-8136-2136B4F66D4B}"/>
                </a:ext>
              </a:extLst>
            </p:cNvPr>
            <p:cNvSpPr/>
            <p:nvPr/>
          </p:nvSpPr>
          <p:spPr>
            <a:xfrm>
              <a:off x="528504" y="780267"/>
              <a:ext cx="10887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b="1" spc="-15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연구 목표</a:t>
              </a:r>
              <a:endParaRPr lang="ko-Kore-KR" altLang="en-US" sz="2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624E7BF-511A-34D4-845D-EFBEC94EAB0A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F0B70D5-E96B-F22C-001A-11A245908861}"/>
              </a:ext>
            </a:extLst>
          </p:cNvPr>
          <p:cNvGrpSpPr/>
          <p:nvPr/>
        </p:nvGrpSpPr>
        <p:grpSpPr>
          <a:xfrm>
            <a:off x="598538" y="1551345"/>
            <a:ext cx="4022268" cy="1910714"/>
            <a:chOff x="711042" y="1478114"/>
            <a:chExt cx="4022268" cy="1910714"/>
          </a:xfrm>
        </p:grpSpPr>
        <p:sp>
          <p:nvSpPr>
            <p:cNvPr id="5" name="AutoShape 61">
              <a:extLst>
                <a:ext uri="{FF2B5EF4-FFF2-40B4-BE49-F238E27FC236}">
                  <a16:creationId xmlns:a16="http://schemas.microsoft.com/office/drawing/2014/main" id="{55A6BB0B-E588-AC5B-05BA-48776AC22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489" y="1596433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6" name="모서리가 둥근 직사각형 250">
              <a:extLst>
                <a:ext uri="{FF2B5EF4-FFF2-40B4-BE49-F238E27FC236}">
                  <a16:creationId xmlns:a16="http://schemas.microsoft.com/office/drawing/2014/main" id="{5A460B46-EE33-BF16-46E4-5AF7B12968A1}"/>
                </a:ext>
              </a:extLst>
            </p:cNvPr>
            <p:cNvSpPr/>
            <p:nvPr/>
          </p:nvSpPr>
          <p:spPr>
            <a:xfrm>
              <a:off x="711042" y="1478114"/>
              <a:ext cx="4022268" cy="461664"/>
            </a:xfrm>
            <a:prstGeom prst="roundRect">
              <a:avLst>
                <a:gd name="adj" fmla="val 50000"/>
              </a:avLst>
            </a:prstGeom>
            <a:solidFill>
              <a:srgbClr val="003260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6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무선 네트워크 프로토콜 취약점 분석</a:t>
              </a:r>
              <a:endParaRPr lang="ko-KR" altLang="en-US" sz="16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14" name="모서리가 둥근 직사각형 129">
              <a:extLst>
                <a:ext uri="{FF2B5EF4-FFF2-40B4-BE49-F238E27FC236}">
                  <a16:creationId xmlns:a16="http://schemas.microsoft.com/office/drawing/2014/main" id="{91844DAA-7889-43ED-69C1-BD55616711C5}"/>
                </a:ext>
              </a:extLst>
            </p:cNvPr>
            <p:cNvSpPr/>
            <p:nvPr/>
          </p:nvSpPr>
          <p:spPr>
            <a:xfrm>
              <a:off x="861200" y="1993143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defRPr/>
              </a:pPr>
              <a:r>
                <a:rPr lang="ko-KR" altLang="en-US" sz="16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대표적인 무선 네트워크 프로토콜의 취약점 분석</a:t>
              </a:r>
              <a:endPara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2D3C54B-E980-E5A5-2767-0CED3CDD153F}"/>
              </a:ext>
            </a:extLst>
          </p:cNvPr>
          <p:cNvGrpSpPr/>
          <p:nvPr/>
        </p:nvGrpSpPr>
        <p:grpSpPr>
          <a:xfrm>
            <a:off x="5265466" y="1551345"/>
            <a:ext cx="4022269" cy="1910793"/>
            <a:chOff x="5172689" y="1478114"/>
            <a:chExt cx="4022269" cy="1910793"/>
          </a:xfrm>
        </p:grpSpPr>
        <p:sp>
          <p:nvSpPr>
            <p:cNvPr id="10" name="AutoShape 61">
              <a:extLst>
                <a:ext uri="{FF2B5EF4-FFF2-40B4-BE49-F238E27FC236}">
                  <a16:creationId xmlns:a16="http://schemas.microsoft.com/office/drawing/2014/main" id="{06CC5F60-2093-40D4-F268-C8D44BCFB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727" y="1596512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11" name="모서리가 둥근 직사각형 129">
              <a:extLst>
                <a:ext uri="{FF2B5EF4-FFF2-40B4-BE49-F238E27FC236}">
                  <a16:creationId xmlns:a16="http://schemas.microsoft.com/office/drawing/2014/main" id="{45C06102-1846-A3A1-8A7C-035CF16A99B4}"/>
                </a:ext>
              </a:extLst>
            </p:cNvPr>
            <p:cNvSpPr/>
            <p:nvPr/>
          </p:nvSpPr>
          <p:spPr>
            <a:xfrm>
              <a:off x="5306438" y="1993222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defRPr/>
              </a:pP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대부분의 장비는 </a:t>
              </a:r>
              <a:r>
                <a:rPr lang="en-US" altLang="ko-KR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BLE </a:t>
              </a: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또는 </a:t>
              </a:r>
              <a:r>
                <a:rPr lang="en-US" altLang="ko-KR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WLAN</a:t>
              </a: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을 사용</a:t>
              </a:r>
              <a:endParaRPr lang="en-US" altLang="ko-KR" sz="14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lvl="0" algn="ctr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defRPr/>
              </a:pPr>
              <a:r>
                <a:rPr lang="en-US" altLang="ko-KR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=&gt;</a:t>
              </a: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취약점 분석 결과를 바탕으로 공격 실행 </a:t>
              </a:r>
              <a:endParaRPr lang="en-US" altLang="ko-KR" sz="14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" name="모서리가 둥근 직사각형 250">
              <a:extLst>
                <a:ext uri="{FF2B5EF4-FFF2-40B4-BE49-F238E27FC236}">
                  <a16:creationId xmlns:a16="http://schemas.microsoft.com/office/drawing/2014/main" id="{A93111FC-422F-C529-95E0-5ACD91D43DFC}"/>
                </a:ext>
              </a:extLst>
            </p:cNvPr>
            <p:cNvSpPr/>
            <p:nvPr/>
          </p:nvSpPr>
          <p:spPr>
            <a:xfrm>
              <a:off x="5172689" y="1478114"/>
              <a:ext cx="4022269" cy="461663"/>
            </a:xfrm>
            <a:prstGeom prst="roundRect">
              <a:avLst>
                <a:gd name="adj" fmla="val 50000"/>
              </a:avLst>
            </a:prstGeom>
            <a:solidFill>
              <a:srgbClr val="0060B8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AR </a:t>
              </a:r>
              <a:r>
                <a:rPr lang="ko-KR" altLang="en-US" sz="1600" b="1" dirty="0"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기기의 공격 가능성 분석</a:t>
              </a:r>
              <a:r>
                <a:rPr lang="ko-KR" altLang="en-US" sz="16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</a:p>
          </p:txBody>
        </p:sp>
      </p:grpSp>
      <p:sp>
        <p:nvSpPr>
          <p:cNvPr id="17" name="AutoShape 61">
            <a:extLst>
              <a:ext uri="{FF2B5EF4-FFF2-40B4-BE49-F238E27FC236}">
                <a16:creationId xmlns:a16="http://schemas.microsoft.com/office/drawing/2014/main" id="{61AD10A6-0EA7-6463-EE58-FFD82D53C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704" y="4143785"/>
            <a:ext cx="3567448" cy="1792395"/>
          </a:xfrm>
          <a:prstGeom prst="roundRect">
            <a:avLst>
              <a:gd name="adj" fmla="val 384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554"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12" name="모서리가 둥근 직사각형 250">
            <a:extLst>
              <a:ext uri="{FF2B5EF4-FFF2-40B4-BE49-F238E27FC236}">
                <a16:creationId xmlns:a16="http://schemas.microsoft.com/office/drawing/2014/main" id="{CEB6CFE8-CB24-DA5F-9D35-FF02C1B13A02}"/>
              </a:ext>
            </a:extLst>
          </p:cNvPr>
          <p:cNvSpPr/>
          <p:nvPr/>
        </p:nvSpPr>
        <p:spPr>
          <a:xfrm>
            <a:off x="1155125" y="4059999"/>
            <a:ext cx="3656608" cy="3816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innerShdw blurRad="1143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취약점 분석 및  솔루션 개발</a:t>
            </a:r>
          </a:p>
        </p:txBody>
      </p:sp>
      <p:sp>
        <p:nvSpPr>
          <p:cNvPr id="16" name="모서리가 둥근 직사각형 129">
            <a:extLst>
              <a:ext uri="{FF2B5EF4-FFF2-40B4-BE49-F238E27FC236}">
                <a16:creationId xmlns:a16="http://schemas.microsoft.com/office/drawing/2014/main" id="{D489A405-2934-DD4D-2CC4-531386657293}"/>
              </a:ext>
            </a:extLst>
          </p:cNvPr>
          <p:cNvSpPr/>
          <p:nvPr/>
        </p:nvSpPr>
        <p:spPr>
          <a:xfrm>
            <a:off x="1275281" y="4531202"/>
            <a:ext cx="3416296" cy="1344578"/>
          </a:xfrm>
          <a:prstGeom prst="roundRect">
            <a:avLst>
              <a:gd name="adj" fmla="val 4005"/>
            </a:avLst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831614">
              <a:lnSpc>
                <a:spcPct val="120000"/>
              </a:lnSpc>
              <a:spcAft>
                <a:spcPts val="400"/>
              </a:spcAft>
              <a:buClr>
                <a:srgbClr val="2D65A9"/>
              </a:buClr>
              <a:buSzPct val="100000"/>
              <a:defRPr/>
            </a:pPr>
            <a:r>
              <a:rPr lang="ko-KR" altLang="en-US" sz="16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공격 성공 후 취약점 분석하여 </a:t>
            </a:r>
            <a:r>
              <a:rPr lang="ko-KR" altLang="en-US" sz="16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보안 솔루션 개발 </a:t>
            </a:r>
            <a:endParaRPr lang="en-US" altLang="ko-KR" sz="1600" b="1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더하기 기호 19">
            <a:extLst>
              <a:ext uri="{FF2B5EF4-FFF2-40B4-BE49-F238E27FC236}">
                <a16:creationId xmlns:a16="http://schemas.microsoft.com/office/drawing/2014/main" id="{BA6D3519-A6DE-7F15-FA78-30AEA5A57E5A}"/>
              </a:ext>
            </a:extLst>
          </p:cNvPr>
          <p:cNvSpPr/>
          <p:nvPr/>
        </p:nvSpPr>
        <p:spPr>
          <a:xfrm>
            <a:off x="4671013" y="2413873"/>
            <a:ext cx="563974" cy="512207"/>
          </a:xfrm>
          <a:prstGeom prst="mathPlus">
            <a:avLst>
              <a:gd name="adj1" fmla="val 1533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05641C21-6AC3-35C3-BCB7-A333B6B6B733}"/>
              </a:ext>
            </a:extLst>
          </p:cNvPr>
          <p:cNvSpPr/>
          <p:nvPr/>
        </p:nvSpPr>
        <p:spPr>
          <a:xfrm rot="16200000">
            <a:off x="526964" y="4858942"/>
            <a:ext cx="400110" cy="539714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9D0F75C1-8B5A-85A9-619B-8FAA02F9413F}"/>
              </a:ext>
            </a:extLst>
          </p:cNvPr>
          <p:cNvSpPr/>
          <p:nvPr/>
        </p:nvSpPr>
        <p:spPr>
          <a:xfrm rot="16200000">
            <a:off x="5110302" y="4858942"/>
            <a:ext cx="400110" cy="539714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CAD60A-94C7-84EE-A0CF-69F2AF953915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lang="en-US" altLang="ko-KR" sz="2400" spc="-70">
                <a:ln w="3175"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Ⅰ</a:t>
            </a: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목표</a:t>
            </a:r>
          </a:p>
        </p:txBody>
      </p:sp>
    </p:spTree>
    <p:extLst>
      <p:ext uri="{BB962C8B-B14F-4D97-AF65-F5344CB8AC3E}">
        <p14:creationId xmlns:p14="http://schemas.microsoft.com/office/powerpoint/2010/main" val="272886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816654-703F-044E-AAD9-3A55F8EC7AD5}"/>
              </a:ext>
            </a:extLst>
          </p:cNvPr>
          <p:cNvSpPr/>
          <p:nvPr/>
        </p:nvSpPr>
        <p:spPr>
          <a:xfrm>
            <a:off x="272607" y="20444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연구 내용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81640D-BC6C-1A4D-9995-95823E18B75F}"/>
              </a:ext>
            </a:extLst>
          </p:cNvPr>
          <p:cNvSpPr/>
          <p:nvPr/>
        </p:nvSpPr>
        <p:spPr>
          <a:xfrm>
            <a:off x="368861" y="1490851"/>
            <a:ext cx="6331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무선 네트워크 프로토콜 취약점 및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AR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기기에서의 악용 사례 분석</a:t>
            </a:r>
            <a:b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</a:br>
            <a:endParaRPr kumimoji="1" lang="ko-KR" altLang="en-US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52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CEAF2F5-36A8-28CE-330B-878E47CC6BA4}"/>
              </a:ext>
            </a:extLst>
          </p:cNvPr>
          <p:cNvGrpSpPr/>
          <p:nvPr/>
        </p:nvGrpSpPr>
        <p:grpSpPr>
          <a:xfrm>
            <a:off x="426707" y="835131"/>
            <a:ext cx="1924732" cy="400110"/>
            <a:chOff x="426707" y="780267"/>
            <a:chExt cx="1924732" cy="40011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6DBEF40-C2EC-0128-8E25-703A27302D03}"/>
                </a:ext>
              </a:extLst>
            </p:cNvPr>
            <p:cNvSpPr/>
            <p:nvPr/>
          </p:nvSpPr>
          <p:spPr>
            <a:xfrm>
              <a:off x="528504" y="780267"/>
              <a:ext cx="182293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연구 단계 세분화</a:t>
              </a:r>
              <a:endParaRPr lang="ko-Kore-KR" altLang="en-US" sz="2000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33DAE3D-ED45-C5FF-2B63-78BEE8034BB1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067428-4685-95F9-5F47-0A28CC9A170A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E4D7C-01A2-0AE8-5749-362D5C7A402A}"/>
              </a:ext>
            </a:extLst>
          </p:cNvPr>
          <p:cNvSpPr txBox="1"/>
          <p:nvPr/>
        </p:nvSpPr>
        <p:spPr>
          <a:xfrm>
            <a:off x="517236" y="1262747"/>
            <a:ext cx="8871528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프로젝트는 크게 두 단계로 나누어 진행</a:t>
            </a:r>
            <a:endParaRPr lang="en-US" altLang="ko-KR" sz="16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744C8D4-99A6-4DE9-4606-C23E6CD2FDDB}"/>
              </a:ext>
            </a:extLst>
          </p:cNvPr>
          <p:cNvGrpSpPr/>
          <p:nvPr/>
        </p:nvGrpSpPr>
        <p:grpSpPr>
          <a:xfrm>
            <a:off x="1106817" y="2393554"/>
            <a:ext cx="7823985" cy="2690280"/>
            <a:chOff x="1018228" y="2084194"/>
            <a:chExt cx="7823985" cy="2690280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6E0E838-1861-10EA-F74A-5A0CBB6C5F10}"/>
                </a:ext>
              </a:extLst>
            </p:cNvPr>
            <p:cNvGrpSpPr/>
            <p:nvPr/>
          </p:nvGrpSpPr>
          <p:grpSpPr>
            <a:xfrm>
              <a:off x="1018228" y="2084194"/>
              <a:ext cx="3736933" cy="2690280"/>
              <a:chOff x="5172689" y="1478114"/>
              <a:chExt cx="4022269" cy="1910793"/>
            </a:xfrm>
          </p:grpSpPr>
          <p:sp>
            <p:nvSpPr>
              <p:cNvPr id="32" name="AutoShape 61">
                <a:extLst>
                  <a:ext uri="{FF2B5EF4-FFF2-40B4-BE49-F238E27FC236}">
                    <a16:creationId xmlns:a16="http://schemas.microsoft.com/office/drawing/2014/main" id="{8D2BD57D-B331-624B-E5C3-212CF28A8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1727" y="1596512"/>
                <a:ext cx="3924193" cy="1792395"/>
              </a:xfrm>
              <a:prstGeom prst="roundRect">
                <a:avLst>
                  <a:gd name="adj" fmla="val 3844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ko-KR" sz="554">
                  <a:latin typeface="KoPubDotum Medium" panose="02020603020101020101" pitchFamily="18" charset="-127"/>
                  <a:ea typeface="KoPubDotum Medium" panose="02020603020101020101" pitchFamily="18" charset="-127"/>
                </a:endParaRPr>
              </a:p>
            </p:txBody>
          </p:sp>
          <p:sp>
            <p:nvSpPr>
              <p:cNvPr id="33" name="모서리가 둥근 직사각형 129">
                <a:extLst>
                  <a:ext uri="{FF2B5EF4-FFF2-40B4-BE49-F238E27FC236}">
                    <a16:creationId xmlns:a16="http://schemas.microsoft.com/office/drawing/2014/main" id="{0020597B-FBBA-C0A1-6368-971ADD99C5A4}"/>
                  </a:ext>
                </a:extLst>
              </p:cNvPr>
              <p:cNvSpPr/>
              <p:nvPr/>
            </p:nvSpPr>
            <p:spPr>
              <a:xfrm>
                <a:off x="5306438" y="1993222"/>
                <a:ext cx="3757926" cy="1344578"/>
              </a:xfrm>
              <a:prstGeom prst="roundRect">
                <a:avLst>
                  <a:gd name="adj" fmla="val 4005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AR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 장비에 공격 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구현 및 취약점 분석  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</p:txBody>
          </p:sp>
          <p:sp>
            <p:nvSpPr>
              <p:cNvPr id="34" name="모서리가 둥근 직사각형 250">
                <a:extLst>
                  <a:ext uri="{FF2B5EF4-FFF2-40B4-BE49-F238E27FC236}">
                    <a16:creationId xmlns:a16="http://schemas.microsoft.com/office/drawing/2014/main" id="{72D6FB0C-E155-9CA6-7BA1-39A8FE034FF1}"/>
                  </a:ext>
                </a:extLst>
              </p:cNvPr>
              <p:cNvSpPr/>
              <p:nvPr/>
            </p:nvSpPr>
            <p:spPr>
              <a:xfrm>
                <a:off x="5172689" y="1478114"/>
                <a:ext cx="4022269" cy="461663"/>
              </a:xfrm>
              <a:prstGeom prst="roundRect">
                <a:avLst>
                  <a:gd name="adj" fmla="val 50000"/>
                </a:avLst>
              </a:prstGeom>
              <a:solidFill>
                <a:srgbClr val="003260"/>
              </a:solidFill>
              <a:ln>
                <a:noFill/>
              </a:ln>
              <a:effectLst>
                <a:innerShdw blurRad="114300">
                  <a:prstClr val="black">
                    <a:alpha val="2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1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단계</a:t>
                </a:r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: 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공격 구현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4B070E7-DEB5-6916-A5A3-4D90B6128251}"/>
                </a:ext>
              </a:extLst>
            </p:cNvPr>
            <p:cNvGrpSpPr/>
            <p:nvPr/>
          </p:nvGrpSpPr>
          <p:grpSpPr>
            <a:xfrm>
              <a:off x="5105280" y="2084194"/>
              <a:ext cx="3736933" cy="2690280"/>
              <a:chOff x="5172689" y="1478114"/>
              <a:chExt cx="4022269" cy="1910793"/>
            </a:xfrm>
          </p:grpSpPr>
          <p:sp>
            <p:nvSpPr>
              <p:cNvPr id="29" name="AutoShape 61">
                <a:extLst>
                  <a:ext uri="{FF2B5EF4-FFF2-40B4-BE49-F238E27FC236}">
                    <a16:creationId xmlns:a16="http://schemas.microsoft.com/office/drawing/2014/main" id="{1CCB2FE5-EBD4-07A8-DE78-959325F2E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1727" y="1596512"/>
                <a:ext cx="3924193" cy="1792395"/>
              </a:xfrm>
              <a:prstGeom prst="roundRect">
                <a:avLst>
                  <a:gd name="adj" fmla="val 3844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ko-KR" sz="554">
                  <a:latin typeface="KoPubDotum Medium" panose="02020603020101020101" pitchFamily="18" charset="-127"/>
                  <a:ea typeface="KoPubDotum Medium" panose="02020603020101020101" pitchFamily="18" charset="-127"/>
                </a:endParaRPr>
              </a:p>
            </p:txBody>
          </p:sp>
          <p:sp>
            <p:nvSpPr>
              <p:cNvPr id="30" name="모서리가 둥근 직사각형 129">
                <a:extLst>
                  <a:ext uri="{FF2B5EF4-FFF2-40B4-BE49-F238E27FC236}">
                    <a16:creationId xmlns:a16="http://schemas.microsoft.com/office/drawing/2014/main" id="{A1B386BF-34F6-D070-1FF9-6C526F4E1D3A}"/>
                  </a:ext>
                </a:extLst>
              </p:cNvPr>
              <p:cNvSpPr/>
              <p:nvPr/>
            </p:nvSpPr>
            <p:spPr>
              <a:xfrm>
                <a:off x="5306438" y="1993222"/>
                <a:ext cx="3757926" cy="1344578"/>
              </a:xfrm>
              <a:prstGeom prst="roundRect">
                <a:avLst>
                  <a:gd name="adj" fmla="val 4005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AR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기기 취약점 기반 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AI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를 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활용하여  보안 솔루션 구축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</p:txBody>
          </p:sp>
          <p:sp>
            <p:nvSpPr>
              <p:cNvPr id="31" name="모서리가 둥근 직사각형 250">
                <a:extLst>
                  <a:ext uri="{FF2B5EF4-FFF2-40B4-BE49-F238E27FC236}">
                    <a16:creationId xmlns:a16="http://schemas.microsoft.com/office/drawing/2014/main" id="{040C731F-7226-F3E3-D623-10783BCF5960}"/>
                  </a:ext>
                </a:extLst>
              </p:cNvPr>
              <p:cNvSpPr/>
              <p:nvPr/>
            </p:nvSpPr>
            <p:spPr>
              <a:xfrm>
                <a:off x="5172689" y="1478114"/>
                <a:ext cx="4022269" cy="461663"/>
              </a:xfrm>
              <a:prstGeom prst="roundRect">
                <a:avLst>
                  <a:gd name="adj" fmla="val 50000"/>
                </a:avLst>
              </a:prstGeom>
              <a:solidFill>
                <a:srgbClr val="0060B8"/>
              </a:solidFill>
              <a:ln>
                <a:noFill/>
              </a:ln>
              <a:effectLst>
                <a:innerShdw blurRad="114300">
                  <a:prstClr val="black">
                    <a:alpha val="2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2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단계</a:t>
                </a:r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: 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 보안 시스템 구현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78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9A97973-F8FB-B019-57A7-09CA67CC2C77}"/>
              </a:ext>
            </a:extLst>
          </p:cNvPr>
          <p:cNvGrpSpPr/>
          <p:nvPr/>
        </p:nvGrpSpPr>
        <p:grpSpPr>
          <a:xfrm>
            <a:off x="426707" y="835131"/>
            <a:ext cx="2963478" cy="400110"/>
            <a:chOff x="426707" y="780267"/>
            <a:chExt cx="2963478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DDE6A0-DF86-FF19-C0DA-0B1466DDA7EC}"/>
                </a:ext>
              </a:extLst>
            </p:cNvPr>
            <p:cNvSpPr/>
            <p:nvPr/>
          </p:nvSpPr>
          <p:spPr>
            <a:xfrm>
              <a:off x="528504" y="780267"/>
              <a:ext cx="286168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1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공격 구현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 완료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6ADC112-2635-B815-9991-E7D044660096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C0E23C-871A-8B24-0D25-8756C3988B5C}"/>
              </a:ext>
            </a:extLst>
          </p:cNvPr>
          <p:cNvSpPr txBox="1"/>
          <p:nvPr/>
        </p:nvSpPr>
        <p:spPr>
          <a:xfrm>
            <a:off x="477605" y="2111452"/>
            <a:ext cx="8871528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Bleak</a:t>
            </a:r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Python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비동기식 크로스 플랫폼 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BLE 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라이브러리로 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Windows, Linux, MacOS 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모두 지원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OS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별 네이티브 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BLE API</a:t>
            </a:r>
            <a:r>
              <a:rPr lang="ko-KR" altLang="en-US" sz="140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사용하며 지속적으로 유지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관리되는 현대적인 라이브러리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3F181-7257-672F-EAA6-94F4373398FA}"/>
              </a:ext>
            </a:extLst>
          </p:cNvPr>
          <p:cNvSpPr txBox="1"/>
          <p:nvPr/>
        </p:nvSpPr>
        <p:spPr>
          <a:xfrm>
            <a:off x="477605" y="3646051"/>
            <a:ext cx="8701906" cy="138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Gatt</a:t>
            </a:r>
            <a:endParaRPr lang="en-US" altLang="ko-KR" sz="1600" dirty="0">
              <a:solidFill>
                <a:srgbClr val="0000F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BLE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통신에서 장치 간 데이터를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Service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Characteristic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형태로 교환하는 구조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BLE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디바이스는 하나 이상의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servic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포함할 수 있으며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각각의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service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하나 이상의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Characteristic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포함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B4E57-D923-14B7-67FD-75A7CD111EF1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공격 구현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4919B3-8C87-B102-E517-3D3420680D14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A0B7E2-C309-718D-7890-5D143DB6924D}"/>
              </a:ext>
            </a:extLst>
          </p:cNvPr>
          <p:cNvSpPr txBox="1"/>
          <p:nvPr/>
        </p:nvSpPr>
        <p:spPr>
          <a:xfrm>
            <a:off x="477605" y="1677349"/>
            <a:ext cx="8871528" cy="4261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개요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607354-BC39-8CB3-6488-84B78F74BEB1}"/>
              </a:ext>
            </a:extLst>
          </p:cNvPr>
          <p:cNvSpPr txBox="1"/>
          <p:nvPr/>
        </p:nvSpPr>
        <p:spPr>
          <a:xfrm>
            <a:off x="602047" y="5180650"/>
            <a:ext cx="8701906" cy="743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UUID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Characteristic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구분하는 고유 식별자 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902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2C7E-BBFD-60A4-E5D5-0C77F0CF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9DEEA6E8-DFE8-2568-432C-4A1702BD9F1C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EBA1B-DD64-DB49-C55A-2880456F6294}"/>
              </a:ext>
            </a:extLst>
          </p:cNvPr>
          <p:cNvSpPr txBox="1"/>
          <p:nvPr/>
        </p:nvSpPr>
        <p:spPr>
          <a:xfrm>
            <a:off x="477605" y="1728568"/>
            <a:ext cx="8871528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진행상황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 PC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 </a:t>
            </a:r>
            <a:r>
              <a:rPr lang="ko-KR" altLang="en-US" sz="14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동글을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연결해 공격자가 수트와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PC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사이의 </a:t>
            </a:r>
            <a:r>
              <a:rPr lang="en-US" altLang="ko-KR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Bluetooth 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통신을 가로채는 구조</a:t>
            </a:r>
            <a:r>
              <a:rPr lang="ko-KR" altLang="en-US" sz="1400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마련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기기의 진동센서 반응 조작을 통해 실험 결과 확인 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F5F0D-CCD6-D42D-84D1-0332D4392FD8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공격 구현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9F4A82-7A3C-788A-9CD9-A609A4588872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6" name="그림 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F23B68-6631-AA18-4254-AED5F0B7E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073" y="2794950"/>
            <a:ext cx="1683491" cy="1683491"/>
          </a:xfrm>
          <a:prstGeom prst="rect">
            <a:avLst/>
          </a:prstGeom>
        </p:spPr>
      </p:pic>
      <p:pic>
        <p:nvPicPr>
          <p:cNvPr id="7" name="그림 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BF8FA8-D043-4CD4-A3C4-D03B5CF9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073" y="4772082"/>
            <a:ext cx="1683491" cy="1683491"/>
          </a:xfrm>
          <a:prstGeom prst="rect">
            <a:avLst/>
          </a:prstGeom>
        </p:spPr>
      </p:pic>
      <p:pic>
        <p:nvPicPr>
          <p:cNvPr id="12" name="그림 11" descr="의류, 보호복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CCA8A4-6046-1C56-5EB7-C8FA08065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97" y="3349112"/>
            <a:ext cx="2649136" cy="2649136"/>
          </a:xfrm>
          <a:prstGeom prst="rect">
            <a:avLst/>
          </a:prstGeom>
        </p:spPr>
      </p:pic>
      <p:sp>
        <p:nvSpPr>
          <p:cNvPr id="16" name="화살표: 왼쪽/오른쪽 15">
            <a:extLst>
              <a:ext uri="{FF2B5EF4-FFF2-40B4-BE49-F238E27FC236}">
                <a16:creationId xmlns:a16="http://schemas.microsoft.com/office/drawing/2014/main" id="{7AE265D7-6D93-1EFD-B6E4-ACAEB8369316}"/>
              </a:ext>
            </a:extLst>
          </p:cNvPr>
          <p:cNvSpPr/>
          <p:nvPr/>
        </p:nvSpPr>
        <p:spPr>
          <a:xfrm rot="20691915">
            <a:off x="3661935" y="3548533"/>
            <a:ext cx="2502870" cy="723637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DATA = 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88597474-7420-306C-6F70-26275F8851E8}"/>
              </a:ext>
            </a:extLst>
          </p:cNvPr>
          <p:cNvSpPr/>
          <p:nvPr/>
        </p:nvSpPr>
        <p:spPr>
          <a:xfrm rot="6168405">
            <a:off x="4763547" y="4163635"/>
            <a:ext cx="731942" cy="245198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ADE57-6EAB-35A4-1E65-BA001C006E2B}"/>
              </a:ext>
            </a:extLst>
          </p:cNvPr>
          <p:cNvSpPr txBox="1"/>
          <p:nvPr/>
        </p:nvSpPr>
        <p:spPr>
          <a:xfrm>
            <a:off x="7366222" y="3103873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/>
              <a:t>A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354B1-5954-381C-7095-01B99FAFA305}"/>
              </a:ext>
            </a:extLst>
          </p:cNvPr>
          <p:cNvSpPr txBox="1"/>
          <p:nvPr/>
        </p:nvSpPr>
        <p:spPr>
          <a:xfrm>
            <a:off x="7366222" y="507336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/>
              <a:t>B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E3FADF-128F-FDF6-751D-B6EB5E84C274}"/>
              </a:ext>
            </a:extLst>
          </p:cNvPr>
          <p:cNvSpPr txBox="1"/>
          <p:nvPr/>
        </p:nvSpPr>
        <p:spPr>
          <a:xfrm rot="802929">
            <a:off x="4793661" y="4947283"/>
            <a:ext cx="1338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DATA = 100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43926C-CD57-05A5-1AC8-824B850E7763}"/>
              </a:ext>
            </a:extLst>
          </p:cNvPr>
          <p:cNvSpPr txBox="1"/>
          <p:nvPr/>
        </p:nvSpPr>
        <p:spPr>
          <a:xfrm rot="824726">
            <a:off x="4850450" y="5243204"/>
            <a:ext cx="903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ATTACK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23" name="그림 22" descr="상징, 그래픽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4484E5-073B-A411-07E7-8FC1A0240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3060705" y="3379624"/>
            <a:ext cx="409553" cy="40955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11ABF52-A17C-3C07-DC64-73A608E2DC3F}"/>
              </a:ext>
            </a:extLst>
          </p:cNvPr>
          <p:cNvSpPr/>
          <p:nvPr/>
        </p:nvSpPr>
        <p:spPr>
          <a:xfrm>
            <a:off x="528504" y="835131"/>
            <a:ext cx="2861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단계</a:t>
            </a:r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공격 구현 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kumimoji="1" lang="ko-KR" altLang="en-US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 완료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2113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B0623-215B-4678-52BB-CD967340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95B3836E-8CA9-6A38-7233-EB0FDACDF8E7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50A02A-7A35-C577-551F-C249F2660F73}"/>
              </a:ext>
            </a:extLst>
          </p:cNvPr>
          <p:cNvSpPr txBox="1"/>
          <p:nvPr/>
        </p:nvSpPr>
        <p:spPr>
          <a:xfrm>
            <a:off x="477605" y="1673152"/>
            <a:ext cx="8871528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연결 코드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26AEA0-7EFF-E660-DD65-338F92A839C3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공격 구현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1BD746-F0C2-D2F4-1F4C-3558DA9BD7D9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BF96D09-5154-1E92-A5A4-9CB921A1C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86" y="2126972"/>
            <a:ext cx="3684497" cy="434526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4FA20A3-C919-8486-53C2-BD4E5D91A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873" y="2058962"/>
            <a:ext cx="4167727" cy="36517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5096EED-A28A-130C-7A47-6E32431A92B6}"/>
              </a:ext>
            </a:extLst>
          </p:cNvPr>
          <p:cNvSpPr/>
          <p:nvPr/>
        </p:nvSpPr>
        <p:spPr>
          <a:xfrm>
            <a:off x="950853" y="5086780"/>
            <a:ext cx="2805222" cy="9198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4B3854-90FF-D330-3F9A-EAE2258D0237}"/>
              </a:ext>
            </a:extLst>
          </p:cNvPr>
          <p:cNvSpPr/>
          <p:nvPr/>
        </p:nvSpPr>
        <p:spPr>
          <a:xfrm>
            <a:off x="5527801" y="2227955"/>
            <a:ext cx="2614854" cy="302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7E72D-D4C4-25BD-BA5B-CADD1DC650BE}"/>
              </a:ext>
            </a:extLst>
          </p:cNvPr>
          <p:cNvSpPr txBox="1"/>
          <p:nvPr/>
        </p:nvSpPr>
        <p:spPr>
          <a:xfrm>
            <a:off x="7562788" y="1936192"/>
            <a:ext cx="1258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장비 연결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1D4D30-D84A-7E28-5328-D5E6E5746E64}"/>
              </a:ext>
            </a:extLst>
          </p:cNvPr>
          <p:cNvSpPr txBox="1"/>
          <p:nvPr/>
        </p:nvSpPr>
        <p:spPr>
          <a:xfrm>
            <a:off x="2318795" y="4699428"/>
            <a:ext cx="1786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장비 탐색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이름 기반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B7D84CF-0B86-695C-0716-D49FB78F9D11}"/>
              </a:ext>
            </a:extLst>
          </p:cNvPr>
          <p:cNvSpPr/>
          <p:nvPr/>
        </p:nvSpPr>
        <p:spPr>
          <a:xfrm>
            <a:off x="5522664" y="2643772"/>
            <a:ext cx="3111238" cy="5146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ACDD0A-2ECB-855D-084B-5FB1FB6E6CB2}"/>
              </a:ext>
            </a:extLst>
          </p:cNvPr>
          <p:cNvSpPr txBox="1"/>
          <p:nvPr/>
        </p:nvSpPr>
        <p:spPr>
          <a:xfrm>
            <a:off x="7732849" y="3192233"/>
            <a:ext cx="1786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진동 명령 전송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88CF4E-EC0D-BF16-E93B-F2D0334BFE16}"/>
              </a:ext>
            </a:extLst>
          </p:cNvPr>
          <p:cNvSpPr/>
          <p:nvPr/>
        </p:nvSpPr>
        <p:spPr>
          <a:xfrm>
            <a:off x="528504" y="835131"/>
            <a:ext cx="2861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단계</a:t>
            </a:r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공격 구현 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kumimoji="1" lang="ko-KR" altLang="en-US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 완료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0745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7B92E-44F2-710B-21D5-18567A14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571DA39F-A7DC-B605-AE57-5BDF959B67CB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E42CE-542F-AB25-D20D-A0BDAD2E649C}"/>
              </a:ext>
            </a:extLst>
          </p:cNvPr>
          <p:cNvSpPr txBox="1"/>
          <p:nvPr/>
        </p:nvSpPr>
        <p:spPr>
          <a:xfrm>
            <a:off x="477605" y="1673152"/>
            <a:ext cx="8871528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공격 코드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33CBD-4E55-8E7D-BC1A-D3FE65686225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공격 구현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B37568-03CB-131C-007D-DC2D5FB973FF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25D980-EE7A-AC4C-A9E6-F28F77897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91" y="2161108"/>
            <a:ext cx="3716543" cy="23475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C239BC-F4B2-1BDD-F8DA-D779C228C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593" y="2293027"/>
            <a:ext cx="3837750" cy="416445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47F7B2-770C-8B40-4253-345B044BB0C9}"/>
              </a:ext>
            </a:extLst>
          </p:cNvPr>
          <p:cNvSpPr/>
          <p:nvPr/>
        </p:nvSpPr>
        <p:spPr>
          <a:xfrm>
            <a:off x="5401167" y="2390599"/>
            <a:ext cx="2681119" cy="7515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9DB273-58C4-E959-A3FE-D18C3F130186}"/>
              </a:ext>
            </a:extLst>
          </p:cNvPr>
          <p:cNvSpPr txBox="1"/>
          <p:nvPr/>
        </p:nvSpPr>
        <p:spPr>
          <a:xfrm>
            <a:off x="7267663" y="2139138"/>
            <a:ext cx="1707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연결 시도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3FF134B-755C-9699-2FA9-1B80E64D126E}"/>
              </a:ext>
            </a:extLst>
          </p:cNvPr>
          <p:cNvSpPr/>
          <p:nvPr/>
        </p:nvSpPr>
        <p:spPr>
          <a:xfrm>
            <a:off x="5218593" y="3372170"/>
            <a:ext cx="3573127" cy="91369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8E4CDF-1378-5E70-2856-DD24537460A3}"/>
              </a:ext>
            </a:extLst>
          </p:cNvPr>
          <p:cNvSpPr txBox="1"/>
          <p:nvPr/>
        </p:nvSpPr>
        <p:spPr>
          <a:xfrm>
            <a:off x="7584020" y="4257197"/>
            <a:ext cx="1707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진동 명령 전송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F8A1AF-A6C0-328B-B56A-E4C98C7C44E7}"/>
              </a:ext>
            </a:extLst>
          </p:cNvPr>
          <p:cNvSpPr/>
          <p:nvPr/>
        </p:nvSpPr>
        <p:spPr>
          <a:xfrm>
            <a:off x="528504" y="835131"/>
            <a:ext cx="2861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단계</a:t>
            </a:r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공격 구현 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kumimoji="1" lang="ko-KR" altLang="en-US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 완료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6278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581E-4AAC-B0F8-AC19-F708190FD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326F8B22-1EEF-85E0-8288-5DC8BA5A9724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AB609-C946-0C07-5E15-B1D46843676F}"/>
              </a:ext>
            </a:extLst>
          </p:cNvPr>
          <p:cNvSpPr txBox="1"/>
          <p:nvPr/>
        </p:nvSpPr>
        <p:spPr>
          <a:xfrm>
            <a:off x="477605" y="1728568"/>
            <a:ext cx="8951010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공격 영상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Injection 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코드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(User B)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를 실행함으로써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User A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와의 연결이 끊기고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User B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연결되어 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진동 세기가 변화 </a:t>
            </a:r>
            <a:endParaRPr lang="en-US" altLang="ko-KR" sz="14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1BA800-4CD1-F2D3-E130-C054D29A153D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공격 구현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62B0D9-6FA3-2BD3-FAF7-44A5AB65D281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2" name="KakaoTalk_20250903_232018322">
            <a:hlinkClick r:id="" action="ppaction://media"/>
            <a:extLst>
              <a:ext uri="{FF2B5EF4-FFF2-40B4-BE49-F238E27FC236}">
                <a16:creationId xmlns:a16="http://schemas.microsoft.com/office/drawing/2014/main" id="{44939BBC-9F98-47A8-45C7-D701E0A50DF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27090" y="2583852"/>
            <a:ext cx="6583439" cy="370318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C0E6D92-9670-A59F-8355-68CA3094AA72}"/>
              </a:ext>
            </a:extLst>
          </p:cNvPr>
          <p:cNvSpPr/>
          <p:nvPr/>
        </p:nvSpPr>
        <p:spPr>
          <a:xfrm>
            <a:off x="528504" y="835131"/>
            <a:ext cx="2861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단계</a:t>
            </a:r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공격 구현 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kumimoji="1" lang="ko-KR" altLang="en-US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 완료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101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13951-299B-78C5-5084-3647FA50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5CDB3797-DF09-2E16-A85D-C25262FFD25C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36877-36AD-081F-A11A-D572339B8EC5}"/>
              </a:ext>
            </a:extLst>
          </p:cNvPr>
          <p:cNvSpPr txBox="1"/>
          <p:nvPr/>
        </p:nvSpPr>
        <p:spPr>
          <a:xfrm>
            <a:off x="477605" y="1728568"/>
            <a:ext cx="8871528" cy="138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추후 계획</a:t>
            </a:r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	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게임 환경에 적용하여 앱과 장비 연결된 상태에서 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injection 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작동 여부 확인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구매 예정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b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b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F9A8E6-D306-8B40-5FC8-0B992F845C49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공격 구현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932FC8-CA04-88CA-0B55-2684A12FD97C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5FE268-8B3D-E3BB-7251-3F87A5BC9E69}"/>
              </a:ext>
            </a:extLst>
          </p:cNvPr>
          <p:cNvSpPr/>
          <p:nvPr/>
        </p:nvSpPr>
        <p:spPr>
          <a:xfrm>
            <a:off x="528504" y="835131"/>
            <a:ext cx="2861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단계</a:t>
            </a:r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공격 구현 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kumimoji="1" lang="ko-KR" altLang="en-US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 완료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ore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8AFB6-E95A-918F-8881-BB3DBF993A0C}"/>
              </a:ext>
            </a:extLst>
          </p:cNvPr>
          <p:cNvSpPr txBox="1"/>
          <p:nvPr/>
        </p:nvSpPr>
        <p:spPr>
          <a:xfrm>
            <a:off x="0" y="2997446"/>
            <a:ext cx="1643338" cy="321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[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문제 상황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]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7B0613-58CF-C3B3-4F2A-54B406764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63" y="3418320"/>
            <a:ext cx="2606769" cy="26067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0C937B-F5DF-BCFF-DD18-8C8B64C09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512" y="3993239"/>
            <a:ext cx="1513551" cy="1432104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20A3FE6-4739-0EA8-A7C4-79BA248D30DC}"/>
              </a:ext>
            </a:extLst>
          </p:cNvPr>
          <p:cNvCxnSpPr/>
          <p:nvPr/>
        </p:nvCxnSpPr>
        <p:spPr>
          <a:xfrm>
            <a:off x="2595154" y="4284765"/>
            <a:ext cx="2977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3D5E9AF-66B6-311D-14D9-9318AB30F761}"/>
              </a:ext>
            </a:extLst>
          </p:cNvPr>
          <p:cNvCxnSpPr/>
          <p:nvPr/>
        </p:nvCxnSpPr>
        <p:spPr>
          <a:xfrm flipH="1">
            <a:off x="2605786" y="5284225"/>
            <a:ext cx="3121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36FBDDC-CE8A-DA73-9EED-3B71D369E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152" y="4450399"/>
            <a:ext cx="469766" cy="6097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05FD828-015D-6A40-F63F-08B72921BD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71" t="9320" r="14724" b="8753"/>
          <a:stretch/>
        </p:blipFill>
        <p:spPr>
          <a:xfrm>
            <a:off x="6397418" y="2762593"/>
            <a:ext cx="873587" cy="1007975"/>
          </a:xfrm>
          <a:prstGeom prst="rect">
            <a:avLst/>
          </a:prstGeom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F80F8A2E-4E18-53BC-46B0-2C7AC3416E72}"/>
              </a:ext>
            </a:extLst>
          </p:cNvPr>
          <p:cNvSpPr/>
          <p:nvPr/>
        </p:nvSpPr>
        <p:spPr>
          <a:xfrm rot="3884916">
            <a:off x="5388938" y="3050124"/>
            <a:ext cx="521505" cy="120008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BF58E-A385-72A4-9F37-8853F55C5380}"/>
              </a:ext>
            </a:extLst>
          </p:cNvPr>
          <p:cNvSpPr txBox="1"/>
          <p:nvPr/>
        </p:nvSpPr>
        <p:spPr>
          <a:xfrm>
            <a:off x="3615054" y="3894106"/>
            <a:ext cx="139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data = 5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739272-F097-A8E0-F8A8-F0719EF86F3A}"/>
              </a:ext>
            </a:extLst>
          </p:cNvPr>
          <p:cNvSpPr txBox="1"/>
          <p:nvPr/>
        </p:nvSpPr>
        <p:spPr>
          <a:xfrm>
            <a:off x="3449353" y="5396713"/>
            <a:ext cx="139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data = 100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C0D732-160D-592C-961D-11F67FA612F4}"/>
              </a:ext>
            </a:extLst>
          </p:cNvPr>
          <p:cNvSpPr txBox="1"/>
          <p:nvPr/>
        </p:nvSpPr>
        <p:spPr>
          <a:xfrm rot="20187706">
            <a:off x="5378479" y="3397194"/>
            <a:ext cx="772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attack</a:t>
            </a:r>
            <a:endParaRPr lang="ko-KR" altLang="en-US" b="1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B0D578-155A-D0ED-08B0-30073BD19216}"/>
              </a:ext>
            </a:extLst>
          </p:cNvPr>
          <p:cNvSpPr/>
          <p:nvPr/>
        </p:nvSpPr>
        <p:spPr>
          <a:xfrm>
            <a:off x="592708" y="5841814"/>
            <a:ext cx="2013078" cy="276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2000" err="1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TactSuit</a:t>
            </a:r>
            <a:r>
              <a:rPr lang="en-US" altLang="ko-KR" sz="2000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 Air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4997D3-FB70-AF7F-81AB-FAD5B5F2AC1E}"/>
              </a:ext>
            </a:extLst>
          </p:cNvPr>
          <p:cNvSpPr/>
          <p:nvPr/>
        </p:nvSpPr>
        <p:spPr>
          <a:xfrm>
            <a:off x="5955072" y="5624995"/>
            <a:ext cx="3776991" cy="400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i="0" dirty="0">
                <a:solidFill>
                  <a:srgbClr val="202124"/>
                </a:solidFill>
                <a:effectLst/>
                <a:latin typeface="inherit"/>
              </a:rPr>
              <a:t>AR</a:t>
            </a:r>
            <a:r>
              <a:rPr lang="ko-KR" altLang="en-US" i="0" dirty="0">
                <a:solidFill>
                  <a:srgbClr val="202124"/>
                </a:solidFill>
                <a:effectLst/>
                <a:latin typeface="inherit"/>
              </a:rPr>
              <a:t>기능 제공 게임 </a:t>
            </a:r>
            <a:r>
              <a:rPr lang="en-US" altLang="ko-KR" i="0" dirty="0">
                <a:solidFill>
                  <a:srgbClr val="202124"/>
                </a:solidFill>
                <a:effectLst/>
                <a:latin typeface="inherit"/>
              </a:rPr>
              <a:t>+</a:t>
            </a:r>
            <a:r>
              <a:rPr lang="en-US" altLang="ko-KR" i="0" dirty="0" err="1">
                <a:solidFill>
                  <a:srgbClr val="202124"/>
                </a:solidFill>
                <a:effectLst/>
                <a:latin typeface="inherit"/>
              </a:rPr>
              <a:t>bHaptics</a:t>
            </a:r>
            <a:r>
              <a:rPr lang="en-US" altLang="ko-KR" i="0" dirty="0">
                <a:solidFill>
                  <a:srgbClr val="202124"/>
                </a:solidFill>
                <a:effectLst/>
                <a:latin typeface="inherit"/>
              </a:rPr>
              <a:t> Player</a:t>
            </a:r>
            <a:br>
              <a:rPr lang="en-US" altLang="ko-KR" i="0" dirty="0">
                <a:solidFill>
                  <a:srgbClr val="202124"/>
                </a:solidFill>
                <a:effectLst/>
                <a:latin typeface="inherit"/>
              </a:rPr>
            </a:br>
            <a:r>
              <a:rPr lang="ko-KR" altLang="en-US" i="0" dirty="0">
                <a:solidFill>
                  <a:srgbClr val="202124"/>
                </a:solidFill>
                <a:effectLst/>
                <a:latin typeface="inherit"/>
              </a:rPr>
              <a:t>                                      </a:t>
            </a:r>
            <a:r>
              <a:rPr lang="en-US" altLang="ko-KR" sz="1400" i="0" dirty="0">
                <a:solidFill>
                  <a:srgbClr val="202124"/>
                </a:solidFill>
                <a:effectLst/>
                <a:latin typeface="inherit"/>
              </a:rPr>
              <a:t>(</a:t>
            </a:r>
            <a:r>
              <a:rPr lang="ko-KR" altLang="en-US" sz="1400" i="0" dirty="0">
                <a:solidFill>
                  <a:srgbClr val="202124"/>
                </a:solidFill>
                <a:effectLst/>
                <a:latin typeface="inherit"/>
              </a:rPr>
              <a:t>진동 피드백 제공</a:t>
            </a:r>
            <a:r>
              <a:rPr lang="en-US" altLang="ko-KR" sz="1400" i="0" dirty="0">
                <a:solidFill>
                  <a:srgbClr val="202124"/>
                </a:solidFill>
                <a:effectLst/>
                <a:latin typeface="inherit"/>
              </a:rPr>
              <a:t>)</a:t>
            </a:r>
            <a:endParaRPr lang="en-US" altLang="ko-KR" i="0" dirty="0">
              <a:solidFill>
                <a:srgbClr val="202124"/>
              </a:solidFill>
              <a:effectLst/>
              <a:latin typeface="Google Sans Display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2569F43-53F2-8840-6240-CDB403A7D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072" y="4217717"/>
            <a:ext cx="2156595" cy="10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7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DC6B-FD6A-6C1D-00B5-E509C939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3534A3B-6C6F-9206-BDA3-BF41FE1FBC35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2045418-444C-F118-C1E3-AA7888C488BE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A881FC8-19BC-5392-36B9-83376B0825D4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CD8F485-9801-FDB9-488C-D140703A4104}"/>
              </a:ext>
            </a:extLst>
          </p:cNvPr>
          <p:cNvSpPr txBox="1"/>
          <p:nvPr/>
        </p:nvSpPr>
        <p:spPr>
          <a:xfrm>
            <a:off x="528504" y="3314243"/>
            <a:ext cx="8871528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Wireshark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네트워크 상에서 패킷을 캡처하고 분석하는 자유 및 오픈 소스 프로그램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현재 통신 중인 혹은 실제 흘러가고 있는 데이터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패킷을 캡처하여 데이터의 흐름을 살펴볼 수 있다</a:t>
            </a: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73B0F4-304B-0928-E6DA-93E5C51B6143}"/>
              </a:ext>
            </a:extLst>
          </p:cNvPr>
          <p:cNvSpPr txBox="1"/>
          <p:nvPr/>
        </p:nvSpPr>
        <p:spPr>
          <a:xfrm>
            <a:off x="528504" y="2171714"/>
            <a:ext cx="8701906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패킷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패키지와 버킷의 합성어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통신망을 통해 전송하기 쉽도록 데이터를 나눈 전송 단위 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4EAB9-FB69-65C7-E2E7-F865EA2666ED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963ABF-583E-B7E6-8F1D-0B515D4E0A55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4C5575-8517-1EF8-D7F0-450C101FA878}"/>
              </a:ext>
            </a:extLst>
          </p:cNvPr>
          <p:cNvSpPr txBox="1"/>
          <p:nvPr/>
        </p:nvSpPr>
        <p:spPr>
          <a:xfrm>
            <a:off x="477605" y="1677349"/>
            <a:ext cx="8871528" cy="4261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개요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8DBC8-0569-B5DF-3DAF-C58725D9E3C4}"/>
              </a:ext>
            </a:extLst>
          </p:cNvPr>
          <p:cNvSpPr txBox="1"/>
          <p:nvPr/>
        </p:nvSpPr>
        <p:spPr>
          <a:xfrm>
            <a:off x="443693" y="4456772"/>
            <a:ext cx="8871528" cy="236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highlight>
                  <a:srgbClr val="FFFF00"/>
                </a:highlight>
                <a:latin typeface="+mn-ea"/>
              </a:rPr>
              <a:t>Jitter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디지털 신호나 데이터 패킷이 이상적인 시간 위치에서 벗어나 빠르거나 느리게 도착하는 현상</a:t>
            </a:r>
            <a:endParaRPr lang="en-US" altLang="ko-KR" sz="14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latin typeface="+mn-ea"/>
              </a:rPr>
              <a:t>지터</a:t>
            </a:r>
            <a:r>
              <a:rPr lang="en-US" altLang="ko-KR" sz="1400" b="1" dirty="0">
                <a:latin typeface="+mn-ea"/>
              </a:rPr>
              <a:t>(jitter)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이 지연이 얼마나 들쭉날쭉 변하는지</a:t>
            </a:r>
            <a:br>
              <a:rPr lang="en-US" altLang="ko-KR" sz="1400" dirty="0">
                <a:latin typeface="+mn-ea"/>
              </a:rPr>
            </a:b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) “</a:t>
            </a:r>
            <a:r>
              <a:rPr lang="ko-KR" altLang="en-US" sz="1400" dirty="0">
                <a:latin typeface="+mn-ea"/>
              </a:rPr>
              <a:t>어떤 패킷은 </a:t>
            </a:r>
            <a:r>
              <a:rPr lang="en-US" altLang="ko-KR" sz="1400" dirty="0">
                <a:latin typeface="+mn-ea"/>
              </a:rPr>
              <a:t>20ms </a:t>
            </a:r>
            <a:r>
              <a:rPr lang="ko-KR" altLang="en-US" sz="1400" dirty="0">
                <a:latin typeface="+mn-ea"/>
              </a:rPr>
              <a:t>걸리는데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어떤 건 </a:t>
            </a:r>
            <a:r>
              <a:rPr lang="en-US" altLang="ko-KR" sz="1400" dirty="0">
                <a:latin typeface="+mn-ea"/>
              </a:rPr>
              <a:t>50ms </a:t>
            </a:r>
            <a:r>
              <a:rPr lang="ko-KR" altLang="en-US" sz="1400" dirty="0">
                <a:latin typeface="+mn-ea"/>
              </a:rPr>
              <a:t>걸린다</a:t>
            </a:r>
            <a:r>
              <a:rPr lang="en-US" altLang="ko-KR" sz="1400" dirty="0">
                <a:latin typeface="+mn-ea"/>
              </a:rPr>
              <a:t>” → </a:t>
            </a:r>
            <a:r>
              <a:rPr lang="ko-KR" altLang="en-US" sz="1400" dirty="0" err="1">
                <a:latin typeface="+mn-ea"/>
              </a:rPr>
              <a:t>지터가</a:t>
            </a:r>
            <a:r>
              <a:rPr lang="ko-KR" altLang="en-US" sz="1400" dirty="0">
                <a:latin typeface="+mn-ea"/>
              </a:rPr>
              <a:t> 크다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지연</a:t>
            </a:r>
            <a:r>
              <a:rPr lang="en-US" altLang="ko-KR" sz="1400" b="1" dirty="0">
                <a:latin typeface="+mn-ea"/>
              </a:rPr>
              <a:t>(latency)</a:t>
            </a:r>
            <a:r>
              <a:rPr lang="en-US" altLang="ko-KR" sz="1400" dirty="0">
                <a:latin typeface="+mn-ea"/>
              </a:rPr>
              <a:t>: A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B</a:t>
            </a:r>
            <a:r>
              <a:rPr lang="ko-KR" altLang="en-US" sz="1400" dirty="0">
                <a:latin typeface="+mn-ea"/>
              </a:rPr>
              <a:t>로 패킷이 가는 데 걸리는 시간</a:t>
            </a:r>
            <a:br>
              <a:rPr lang="en-US" altLang="ko-KR" sz="1400" dirty="0">
                <a:latin typeface="+mn-ea"/>
              </a:rPr>
            </a:b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) “</a:t>
            </a:r>
            <a:r>
              <a:rPr lang="ko-KR" altLang="en-US" sz="1400" dirty="0">
                <a:latin typeface="+mn-ea"/>
              </a:rPr>
              <a:t>평균적으로 </a:t>
            </a:r>
            <a:r>
              <a:rPr lang="en-US" altLang="ko-KR" sz="1400" dirty="0">
                <a:latin typeface="+mn-ea"/>
              </a:rPr>
              <a:t>20ms </a:t>
            </a:r>
            <a:r>
              <a:rPr lang="ko-KR" altLang="en-US" sz="1400" dirty="0">
                <a:latin typeface="+mn-ea"/>
              </a:rPr>
              <a:t>걸린다</a:t>
            </a:r>
            <a:r>
              <a:rPr lang="en-US" altLang="ko-KR" sz="1400" dirty="0">
                <a:latin typeface="+mn-ea"/>
              </a:rPr>
              <a:t>”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8074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55E0-D829-000A-9ACB-CB24A0C5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5BB59FDE-7530-5558-6D6E-907CAC3D8FD3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949DA41-3F53-DE64-9C0B-5DC674A35066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1F75D36A-8A82-DD43-E0B1-D6BE76CAE36F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07F8421-861C-2EC4-5EA8-F3335CCBF190}"/>
              </a:ext>
            </a:extLst>
          </p:cNvPr>
          <p:cNvSpPr txBox="1"/>
          <p:nvPr/>
        </p:nvSpPr>
        <p:spPr>
          <a:xfrm>
            <a:off x="477605" y="1728568"/>
            <a:ext cx="8871528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진행상황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 Wireshark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를 통하여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Bluetooth 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탈취 시도 시 이상현상 발견 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D692D-5C8D-9ACB-EAE6-969EB3FCFD74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F7601F-518B-024B-DB58-5F7ABC6CBB3F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81D6A9-85A8-A9DF-2043-7C373D5E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32" y="2583852"/>
            <a:ext cx="5467734" cy="355113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5A9D722-60EC-C98D-7016-98D91DDF8998}"/>
              </a:ext>
            </a:extLst>
          </p:cNvPr>
          <p:cNvSpPr/>
          <p:nvPr/>
        </p:nvSpPr>
        <p:spPr>
          <a:xfrm>
            <a:off x="1401282" y="3390900"/>
            <a:ext cx="4997303" cy="1720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2FA82B-CF5E-5E87-79FC-077F22BD7259}"/>
              </a:ext>
            </a:extLst>
          </p:cNvPr>
          <p:cNvSpPr txBox="1"/>
          <p:nvPr/>
        </p:nvSpPr>
        <p:spPr>
          <a:xfrm>
            <a:off x="7047346" y="3244334"/>
            <a:ext cx="2447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-&gt; </a:t>
            </a:r>
            <a:r>
              <a:rPr lang="ko-KR" altLang="en-US" sz="1200" dirty="0"/>
              <a:t>과도한 </a:t>
            </a:r>
            <a:r>
              <a:rPr lang="en-US" altLang="ko-KR" sz="1200" dirty="0"/>
              <a:t>Advertising Report </a:t>
            </a:r>
            <a:r>
              <a:rPr lang="ko-KR" altLang="en-US" sz="1200" dirty="0"/>
              <a:t>수신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3763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DE6C3-0C5F-6B2F-3B61-669DEC00A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0A5D75D-2A4C-EAC5-CBCF-05B800EEAF1D}"/>
              </a:ext>
            </a:extLst>
          </p:cNvPr>
          <p:cNvSpPr/>
          <p:nvPr/>
        </p:nvSpPr>
        <p:spPr>
          <a:xfrm>
            <a:off x="517621" y="3585369"/>
            <a:ext cx="8871528" cy="273923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285E4C2-16A4-4125-9AA5-51649EEB7387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C414340-5DA9-83C1-4A7D-C6B793987791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39231B-6002-9E3B-AFD3-A29240371C63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A195FE-60F9-9A33-2CE6-951CC43C9577}"/>
              </a:ext>
            </a:extLst>
          </p:cNvPr>
          <p:cNvSpPr txBox="1"/>
          <p:nvPr/>
        </p:nvSpPr>
        <p:spPr>
          <a:xfrm>
            <a:off x="477605" y="1728568"/>
            <a:ext cx="8871528" cy="176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진행예정</a:t>
            </a:r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anumGothic" panose="020D0604000000000000" pitchFamily="34" charset="-127"/>
                <a:ea typeface="나눔스퀘어 ExtraBold" panose="020B0600000101010101"/>
              </a:rPr>
              <a:t>정상인 경우 패킷과 이상현상의 경우 패킷 데이터 수집</a:t>
            </a:r>
            <a:endParaRPr lang="en-US" altLang="ko-KR" sz="1400" dirty="0">
              <a:latin typeface="NanumGothic" panose="020D0604000000000000" pitchFamily="34" charset="-127"/>
              <a:ea typeface="나눔스퀘어 ExtraBold" panose="020B0600000101010101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피처 추출 및 </a:t>
            </a:r>
            <a:r>
              <a:rPr lang="ko-KR" altLang="en-US" sz="1400" dirty="0" err="1">
                <a:highlight>
                  <a:srgbClr val="FFFF00"/>
                </a:highlight>
              </a:rPr>
              <a:t>지터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en-US" altLang="ko-KR" sz="1400" b="1" dirty="0">
                <a:highlight>
                  <a:srgbClr val="FFFF00"/>
                </a:highlight>
              </a:rPr>
              <a:t>Jitter)</a:t>
            </a:r>
            <a:r>
              <a:rPr lang="ko-KR" altLang="en-US" sz="1400" dirty="0"/>
              <a:t> 기반 지표 설계 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LSTM</a:t>
            </a:r>
            <a:r>
              <a:rPr lang="ko-KR" altLang="en-US" sz="1400" dirty="0"/>
              <a:t>을 기반으로 최적화된 이상탐지 </a:t>
            </a:r>
            <a:r>
              <a:rPr lang="en-US" altLang="ko-KR" sz="1400" dirty="0">
                <a:latin typeface="NanumGothic" panose="020D0604000000000000" pitchFamily="34" charset="-127"/>
                <a:ea typeface="나눔스퀘어 ExtraBold" panose="020B0600000101010101" pitchFamily="50" charset="-127"/>
              </a:rPr>
              <a:t>AI hybrid </a:t>
            </a:r>
            <a:r>
              <a:rPr lang="ko-KR" altLang="en-US" sz="1400" dirty="0">
                <a:latin typeface="NanumGothic" panose="020D0604000000000000" pitchFamily="34" charset="-127"/>
                <a:ea typeface="나눔스퀘어 ExtraBold" panose="020B0600000101010101" pitchFamily="50" charset="-127"/>
              </a:rPr>
              <a:t>모델 개발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TPR(</a:t>
            </a:r>
            <a:r>
              <a:rPr lang="ko-KR" altLang="en-US" sz="1400" dirty="0" err="1"/>
              <a:t>탐지율</a:t>
            </a:r>
            <a:r>
              <a:rPr lang="en-US" altLang="ko-KR" sz="1400" dirty="0"/>
              <a:t>), FPR(</a:t>
            </a:r>
            <a:r>
              <a:rPr lang="ko-KR" altLang="en-US" sz="1400" dirty="0" err="1"/>
              <a:t>오탐률</a:t>
            </a:r>
            <a:r>
              <a:rPr lang="en-US" altLang="ko-KR" sz="1400" dirty="0"/>
              <a:t>)</a:t>
            </a:r>
            <a:r>
              <a:rPr lang="ko-KR" altLang="en-US" sz="1400" dirty="0"/>
              <a:t> 등을 바탕으로 </a:t>
            </a:r>
            <a:r>
              <a:rPr lang="ko-KR" altLang="en-US" sz="1400" dirty="0" err="1"/>
              <a:t>코랩에서</a:t>
            </a:r>
            <a:r>
              <a:rPr lang="ko-KR" altLang="en-US" sz="1400" dirty="0"/>
              <a:t> 학습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879EE3-A54D-B55B-9746-F2D59574AD72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9C0704-08C9-D0DB-A296-649D3A7417DD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5" name="그림 4" descr="도표, 스크린샷, 라인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FB79B0-BB84-FD42-85C2-C43D3C270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663" y="3744365"/>
            <a:ext cx="3017650" cy="2508047"/>
          </a:xfrm>
          <a:prstGeom prst="rect">
            <a:avLst/>
          </a:prstGeom>
        </p:spPr>
      </p:pic>
      <p:sp>
        <p:nvSpPr>
          <p:cNvPr id="6" name="더하기 5">
            <a:extLst>
              <a:ext uri="{FF2B5EF4-FFF2-40B4-BE49-F238E27FC236}">
                <a16:creationId xmlns:a16="http://schemas.microsoft.com/office/drawing/2014/main" id="{9AB9F88A-2816-B361-02C3-35B894744C33}"/>
              </a:ext>
            </a:extLst>
          </p:cNvPr>
          <p:cNvSpPr/>
          <p:nvPr/>
        </p:nvSpPr>
        <p:spPr>
          <a:xfrm>
            <a:off x="4804238" y="4429331"/>
            <a:ext cx="990600" cy="1023257"/>
          </a:xfrm>
          <a:prstGeom prst="mathPlus">
            <a:avLst>
              <a:gd name="adj1" fmla="val 1253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6CD2B-2563-7D38-199E-313AED53A35A}"/>
              </a:ext>
            </a:extLst>
          </p:cNvPr>
          <p:cNvSpPr txBox="1"/>
          <p:nvPr/>
        </p:nvSpPr>
        <p:spPr>
          <a:xfrm>
            <a:off x="2043333" y="5898928"/>
            <a:ext cx="2102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No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Jitter/Jitter</a:t>
            </a:r>
            <a:r>
              <a:rPr kumimoji="1" lang="ko-KR" altLang="en-US" sz="1400" dirty="0"/>
              <a:t> 비교</a:t>
            </a:r>
          </a:p>
        </p:txBody>
      </p:sp>
      <p:pic>
        <p:nvPicPr>
          <p:cNvPr id="4" name="그림 3" descr="컴퓨터, 노트북, 텍스트, 출력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16068A-E7AA-8767-F4C1-86835FED8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670" y="4340123"/>
            <a:ext cx="3677025" cy="129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76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DE5A-8E2C-020E-B6C1-ECB974D4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514B92C-1B28-C58B-C3D9-B387811D5E11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39FFBD3-1209-7A2F-DBF4-3CAF283E210A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8E5BA24-D059-EBF6-A398-736D80B64BCF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45F9449-3EF7-5A5E-9FC3-7378A14EE639}"/>
              </a:ext>
            </a:extLst>
          </p:cNvPr>
          <p:cNvSpPr txBox="1"/>
          <p:nvPr/>
        </p:nvSpPr>
        <p:spPr>
          <a:xfrm>
            <a:off x="646604" y="1635351"/>
            <a:ext cx="8871528" cy="4255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ko-KR" sz="1400" dirty="0"/>
              <a:t>BLE</a:t>
            </a:r>
            <a:r>
              <a:rPr lang="ko-KR" altLang="en-US" sz="1400" dirty="0"/>
              <a:t>는 정상적으로 주기적인 간격으로 패킷을 교환해 </a:t>
            </a:r>
            <a:r>
              <a:rPr lang="ko-KR" altLang="en-US" sz="1400" dirty="0" err="1"/>
              <a:t>지터</a:t>
            </a:r>
            <a:r>
              <a:rPr lang="ko-KR" altLang="en-US" sz="1400" dirty="0"/>
              <a:t> 값이 낮지만</a:t>
            </a:r>
            <a:r>
              <a:rPr lang="en-US" altLang="ko-KR" sz="1400" dirty="0"/>
              <a:t>, </a:t>
            </a:r>
            <a:r>
              <a:rPr lang="ko-KR" altLang="en-US" sz="1400" dirty="0"/>
              <a:t>공격 발생 시 간격이 </a:t>
            </a:r>
            <a:r>
              <a:rPr lang="ko-KR" altLang="en-US" sz="1400" dirty="0" err="1"/>
              <a:t>불규칙해지며</a:t>
            </a:r>
            <a:r>
              <a:rPr lang="ko-KR" altLang="en-US" sz="1400" dirty="0"/>
              <a:t> </a:t>
            </a:r>
            <a:r>
              <a:rPr lang="ko-KR" altLang="en-US" sz="1400" b="1" dirty="0" err="1"/>
              <a:t>지터가</a:t>
            </a:r>
            <a:r>
              <a:rPr lang="ko-KR" altLang="en-US" sz="1400" b="1" dirty="0"/>
              <a:t> 급격히 증가</a:t>
            </a:r>
            <a:br>
              <a:rPr lang="en-US" altLang="ko-KR" sz="1400" dirty="0"/>
            </a:br>
            <a:r>
              <a:rPr lang="ko-KR" altLang="en-US" sz="1400" dirty="0"/>
              <a:t>→</a:t>
            </a:r>
            <a:r>
              <a:rPr lang="ko-KR" altLang="en-US" sz="1400" dirty="0">
                <a:sym typeface="Wingdings" pitchFamily="2" charset="2"/>
              </a:rPr>
              <a:t> </a:t>
            </a:r>
            <a:r>
              <a:rPr lang="ko-KR" altLang="en-US" sz="1400" b="1" dirty="0" err="1">
                <a:solidFill>
                  <a:srgbClr val="0000FF"/>
                </a:solidFill>
              </a:rPr>
              <a:t>지터는</a:t>
            </a:r>
            <a:r>
              <a:rPr lang="ko-KR" altLang="en-US" sz="1400" b="1" dirty="0">
                <a:solidFill>
                  <a:srgbClr val="0000FF"/>
                </a:solidFill>
              </a:rPr>
              <a:t> 공격으로 인한 타이밍 이상 탐지에 효과적인 지표</a:t>
            </a:r>
            <a:endParaRPr lang="en-US" altLang="ko-KR" sz="1400" b="1" dirty="0">
              <a:solidFill>
                <a:srgbClr val="0000FF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400" dirty="0" err="1"/>
              <a:t>지터</a:t>
            </a:r>
            <a:r>
              <a:rPr lang="ko-KR" altLang="en-US" sz="1400" dirty="0"/>
              <a:t> 중심 실험 방법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400" dirty="0"/>
              <a:t>평상시 </a:t>
            </a:r>
            <a:r>
              <a:rPr lang="ko-KR" altLang="en-US" sz="1400" dirty="0" err="1"/>
              <a:t>지터</a:t>
            </a:r>
            <a:r>
              <a:rPr lang="ko-KR" altLang="en-US" sz="1400" dirty="0"/>
              <a:t> 값을 측정하여 </a:t>
            </a:r>
            <a:r>
              <a:rPr lang="en-US" altLang="ko-KR" sz="1400" dirty="0"/>
              <a:t>baseline(</a:t>
            </a:r>
            <a:r>
              <a:rPr lang="ko-KR" altLang="en-US" sz="1400" dirty="0" err="1"/>
              <a:t>기준값</a:t>
            </a:r>
            <a:r>
              <a:rPr lang="en-US" altLang="ko-KR" sz="1400" dirty="0"/>
              <a:t>) </a:t>
            </a:r>
            <a:r>
              <a:rPr lang="ko-KR" altLang="en-US" sz="1400" dirty="0"/>
              <a:t>확보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400" dirty="0"/>
              <a:t>공격 시도</a:t>
            </a:r>
            <a:r>
              <a:rPr lang="en-US" altLang="ko-KR" sz="1400" dirty="0"/>
              <a:t>(</a:t>
            </a:r>
            <a:r>
              <a:rPr lang="ko-KR" altLang="en-US" sz="1400" dirty="0"/>
              <a:t>컴퓨터 </a:t>
            </a:r>
            <a:r>
              <a:rPr lang="en-US" altLang="ko-KR" sz="1400" dirty="0"/>
              <a:t>B</a:t>
            </a:r>
            <a:r>
              <a:rPr lang="ko-KR" altLang="en-US" sz="1400" dirty="0"/>
              <a:t>가 연결 시도</a:t>
            </a:r>
            <a:r>
              <a:rPr lang="en-US" altLang="ko-KR" sz="1400" dirty="0"/>
              <a:t>)</a:t>
            </a:r>
            <a:r>
              <a:rPr lang="ko-KR" altLang="en-US" sz="1400" dirty="0"/>
              <a:t> </a:t>
            </a:r>
            <a:br>
              <a:rPr lang="en-US" altLang="ko-KR" sz="1400" dirty="0"/>
            </a:br>
            <a:r>
              <a:rPr lang="ko-KR" altLang="en-US" sz="1400" dirty="0"/>
              <a:t>→ </a:t>
            </a:r>
            <a:r>
              <a:rPr lang="ko-KR" altLang="en-US" sz="1400" dirty="0" err="1"/>
              <a:t>지터</a:t>
            </a:r>
            <a:r>
              <a:rPr lang="ko-KR" altLang="en-US" sz="1400" dirty="0"/>
              <a:t> 값이 비정상적으로 증가하는 것 확인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400" dirty="0"/>
              <a:t>AI </a:t>
            </a:r>
            <a:r>
              <a:rPr lang="ko-KR" altLang="en-US" sz="1400" dirty="0"/>
              <a:t>모델</a:t>
            </a:r>
            <a:r>
              <a:rPr lang="en-US" altLang="ko-KR" sz="1400" dirty="0"/>
              <a:t>(LSTM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 err="1"/>
              <a:t>에</a:t>
            </a:r>
            <a:r>
              <a:rPr lang="ko-KR" altLang="en-US" sz="1400" dirty="0"/>
              <a:t> 입력하여 정상</a:t>
            </a:r>
            <a:r>
              <a:rPr lang="en-US" altLang="ko-KR" sz="1400" dirty="0"/>
              <a:t>/</a:t>
            </a:r>
            <a:r>
              <a:rPr lang="ko-KR" altLang="en-US" sz="1400" dirty="0"/>
              <a:t>비정상 패턴 분류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785B5-E67C-63DF-8D66-96CB9E6C14C2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AR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4CAE35-245E-D5EC-390C-C6ABB2D8EFE5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7B34DEB-FD55-619C-FF86-5E2825E0F7E0}"/>
              </a:ext>
            </a:extLst>
          </p:cNvPr>
          <p:cNvGrpSpPr/>
          <p:nvPr/>
        </p:nvGrpSpPr>
        <p:grpSpPr>
          <a:xfrm>
            <a:off x="5762006" y="3763241"/>
            <a:ext cx="3854097" cy="1859518"/>
            <a:chOff x="5256563" y="2216903"/>
            <a:chExt cx="4092570" cy="1784121"/>
          </a:xfrm>
        </p:grpSpPr>
        <p:pic>
          <p:nvPicPr>
            <p:cNvPr id="15" name="그림 14" descr="텍스트, 스크린샷, 소프트웨어, 멀티미디어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89D87AC-77C1-BDF9-922A-696FB644F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3783" b="19095"/>
            <a:stretch>
              <a:fillRect/>
            </a:stretch>
          </p:blipFill>
          <p:spPr>
            <a:xfrm>
              <a:off x="5256563" y="2216903"/>
              <a:ext cx="4092570" cy="1784121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FFF0318-F502-6535-3D2C-BA9BC3CD8B6B}"/>
                </a:ext>
              </a:extLst>
            </p:cNvPr>
            <p:cNvSpPr/>
            <p:nvPr/>
          </p:nvSpPr>
          <p:spPr>
            <a:xfrm>
              <a:off x="5363737" y="2429055"/>
              <a:ext cx="512956" cy="148502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60218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EFB8-0EBE-384A-90E9-683D527D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7FB6F61F-0E8C-C9B7-BD1D-59F48BD8F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3108CAF-4164-A904-885E-1DB1645F834E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B55C5B-7EE2-8B8A-C177-DDD7BFE77252}"/>
              </a:ext>
            </a:extLst>
          </p:cNvPr>
          <p:cNvSpPr/>
          <p:nvPr/>
        </p:nvSpPr>
        <p:spPr>
          <a:xfrm>
            <a:off x="368848" y="2087528"/>
            <a:ext cx="5971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Ⅲ.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개발환경 및 예상 결과물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7DB7C1-6C42-7E56-6D7F-FB4739DF50CF}"/>
              </a:ext>
            </a:extLst>
          </p:cNvPr>
          <p:cNvSpPr/>
          <p:nvPr/>
        </p:nvSpPr>
        <p:spPr>
          <a:xfrm>
            <a:off x="368861" y="1490851"/>
            <a:ext cx="6331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무선 네트워크 프로토콜 취약점 및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AR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기기에서의 악용 사례 분석</a:t>
            </a:r>
            <a:b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</a:br>
            <a:endParaRPr kumimoji="1" lang="ko-KR" altLang="en-US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575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17E38B2-5117-A34A-A85F-0DB6EBDB6965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Ⅲ.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개발 환경 및 예상 결과물</a:t>
            </a:r>
          </a:p>
        </p:txBody>
      </p:sp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884D878D-8550-7746-859C-C5916635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19</a:t>
            </a:fld>
            <a:endParaRPr kumimoji="1" lang="ko-Kore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DE9EAD4-6F5D-804C-5A0C-50C4D0694C65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68A9C0-C8BB-2368-7AE2-4DC8D021D913}"/>
              </a:ext>
            </a:extLst>
          </p:cNvPr>
          <p:cNvGrpSpPr/>
          <p:nvPr/>
        </p:nvGrpSpPr>
        <p:grpSpPr>
          <a:xfrm>
            <a:off x="531127" y="1408714"/>
            <a:ext cx="4022268" cy="1910714"/>
            <a:chOff x="711042" y="1478114"/>
            <a:chExt cx="4022268" cy="1910714"/>
          </a:xfrm>
        </p:grpSpPr>
        <p:sp>
          <p:nvSpPr>
            <p:cNvPr id="10" name="AutoShape 61">
              <a:extLst>
                <a:ext uri="{FF2B5EF4-FFF2-40B4-BE49-F238E27FC236}">
                  <a16:creationId xmlns:a16="http://schemas.microsoft.com/office/drawing/2014/main" id="{9AB43958-EDA1-0F34-88F0-A17E5453F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489" y="1596433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11" name="모서리가 둥근 직사각형 250">
              <a:extLst>
                <a:ext uri="{FF2B5EF4-FFF2-40B4-BE49-F238E27FC236}">
                  <a16:creationId xmlns:a16="http://schemas.microsoft.com/office/drawing/2014/main" id="{0FF8B512-569C-1B10-1927-7B97A637230D}"/>
                </a:ext>
              </a:extLst>
            </p:cNvPr>
            <p:cNvSpPr/>
            <p:nvPr/>
          </p:nvSpPr>
          <p:spPr>
            <a:xfrm>
              <a:off x="711042" y="1478114"/>
              <a:ext cx="4022268" cy="461664"/>
            </a:xfrm>
            <a:prstGeom prst="roundRect">
              <a:avLst>
                <a:gd name="adj" fmla="val 50000"/>
              </a:avLst>
            </a:prstGeom>
            <a:solidFill>
              <a:srgbClr val="003260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개발 환경</a:t>
              </a:r>
            </a:p>
          </p:txBody>
        </p:sp>
        <p:sp>
          <p:nvSpPr>
            <p:cNvPr id="12" name="모서리가 둥근 직사각형 129">
              <a:extLst>
                <a:ext uri="{FF2B5EF4-FFF2-40B4-BE49-F238E27FC236}">
                  <a16:creationId xmlns:a16="http://schemas.microsoft.com/office/drawing/2014/main" id="{D8B03945-06B2-CBC2-BDFB-C8FA9695624B}"/>
                </a:ext>
              </a:extLst>
            </p:cNvPr>
            <p:cNvSpPr/>
            <p:nvPr/>
          </p:nvSpPr>
          <p:spPr>
            <a:xfrm>
              <a:off x="861200" y="1993143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운영체제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-</a:t>
              </a: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Windows,</a:t>
              </a: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macOS</a:t>
              </a:r>
            </a:p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ko-KR" sz="160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Kali_Linux</a:t>
              </a:r>
              <a:endParaRPr lang="en-US" altLang="ko-KR" sz="16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pic>
        <p:nvPicPr>
          <p:cNvPr id="1028" name="Picture 4" descr="Kali Linux | Brands of the World™ | Download vector logos and logotypes">
            <a:extLst>
              <a:ext uri="{FF2B5EF4-FFF2-40B4-BE49-F238E27FC236}">
                <a16:creationId xmlns:a16="http://schemas.microsoft.com/office/drawing/2014/main" id="{8864621A-B73A-5118-5E30-67B77C677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576" y="1438159"/>
            <a:ext cx="1591200" cy="15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BF2018-CD75-AFCA-8EF7-73F6A2FF0ABB}"/>
              </a:ext>
            </a:extLst>
          </p:cNvPr>
          <p:cNvSpPr/>
          <p:nvPr/>
        </p:nvSpPr>
        <p:spPr>
          <a:xfrm>
            <a:off x="6470577" y="2932641"/>
            <a:ext cx="1695600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1600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Kali Linux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607D01C-840D-DC2D-E05F-189AB5FC9C84}"/>
              </a:ext>
            </a:extLst>
          </p:cNvPr>
          <p:cNvGrpSpPr/>
          <p:nvPr/>
        </p:nvGrpSpPr>
        <p:grpSpPr>
          <a:xfrm>
            <a:off x="528504" y="3884478"/>
            <a:ext cx="4022269" cy="1910793"/>
            <a:chOff x="5172689" y="1478114"/>
            <a:chExt cx="4022269" cy="1910793"/>
          </a:xfrm>
        </p:grpSpPr>
        <p:sp>
          <p:nvSpPr>
            <p:cNvPr id="16" name="AutoShape 61">
              <a:extLst>
                <a:ext uri="{FF2B5EF4-FFF2-40B4-BE49-F238E27FC236}">
                  <a16:creationId xmlns:a16="http://schemas.microsoft.com/office/drawing/2014/main" id="{CF0CA4FF-6A53-3066-893E-8608E17C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727" y="1596512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17" name="모서리가 둥근 직사각형 129">
              <a:extLst>
                <a:ext uri="{FF2B5EF4-FFF2-40B4-BE49-F238E27FC236}">
                  <a16:creationId xmlns:a16="http://schemas.microsoft.com/office/drawing/2014/main" id="{20C3B6CD-57F4-D782-0A3C-67C09814754C}"/>
                </a:ext>
              </a:extLst>
            </p:cNvPr>
            <p:cNvSpPr/>
            <p:nvPr/>
          </p:nvSpPr>
          <p:spPr>
            <a:xfrm>
              <a:off x="5306438" y="1993222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블루투스 </a:t>
              </a:r>
              <a:r>
                <a:rPr lang="ko-KR" altLang="en-US" sz="160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동글</a:t>
              </a: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endParaRPr lang="en-US" altLang="ko-KR" sz="16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ko-KR" sz="160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TactSuite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Air</a:t>
              </a:r>
              <a:endParaRPr lang="en-US" altLang="ko-KR" sz="1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8" name="모서리가 둥근 직사각형 250">
              <a:extLst>
                <a:ext uri="{FF2B5EF4-FFF2-40B4-BE49-F238E27FC236}">
                  <a16:creationId xmlns:a16="http://schemas.microsoft.com/office/drawing/2014/main" id="{2F53D7E7-4C64-90E8-49FA-DD0D62EF9DEC}"/>
                </a:ext>
              </a:extLst>
            </p:cNvPr>
            <p:cNvSpPr/>
            <p:nvPr/>
          </p:nvSpPr>
          <p:spPr>
            <a:xfrm>
              <a:off x="5172689" y="1478114"/>
              <a:ext cx="4022269" cy="461663"/>
            </a:xfrm>
            <a:prstGeom prst="roundRect">
              <a:avLst>
                <a:gd name="adj" fmla="val 50000"/>
              </a:avLst>
            </a:prstGeom>
            <a:solidFill>
              <a:srgbClr val="0060B8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사용 기기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0D805C-CD1C-4550-2BD5-FB384B4B52E2}"/>
              </a:ext>
            </a:extLst>
          </p:cNvPr>
          <p:cNvSpPr/>
          <p:nvPr/>
        </p:nvSpPr>
        <p:spPr>
          <a:xfrm>
            <a:off x="5515898" y="5419841"/>
            <a:ext cx="1695600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ko-KR" altLang="en-US" sz="16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블루투스 </a:t>
            </a:r>
            <a:r>
              <a:rPr lang="ko-KR" altLang="en-US" sz="16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동글</a:t>
            </a:r>
            <a:endParaRPr lang="en-US" altLang="ko-KR" sz="1600" dirty="0">
              <a:solidFill>
                <a:prstClr val="black">
                  <a:lumMod val="95000"/>
                  <a:lumOff val="5000"/>
                </a:prst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KoPubWorld돋움체_Pro Bold" panose="000008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1CFCCF-4D7A-A833-DDF7-9B7737BB2C4C}"/>
              </a:ext>
            </a:extLst>
          </p:cNvPr>
          <p:cNvSpPr/>
          <p:nvPr/>
        </p:nvSpPr>
        <p:spPr>
          <a:xfrm>
            <a:off x="7656544" y="5419841"/>
            <a:ext cx="1696819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16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TactSuite</a:t>
            </a:r>
            <a:r>
              <a:rPr lang="en-US" altLang="ko-KR" sz="16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 Air</a:t>
            </a:r>
          </a:p>
        </p:txBody>
      </p:sp>
      <p:pic>
        <p:nvPicPr>
          <p:cNvPr id="7" name="그림 6" descr="의류, 보호복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ECE7C1-2560-11CF-17CF-607A1D98B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953" y="3642843"/>
            <a:ext cx="1695600" cy="1695600"/>
          </a:xfrm>
          <a:prstGeom prst="rect">
            <a:avLst/>
          </a:prstGeom>
        </p:spPr>
      </p:pic>
      <p:pic>
        <p:nvPicPr>
          <p:cNvPr id="9" name="그림 8" descr="USB 플래시 드라이브, 플래시 메모리, 데이터 저장 장치, 드라이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38E7D4-9CA0-B86B-3AD4-FFCBAE875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235" y="3538900"/>
            <a:ext cx="1880941" cy="188094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70B042-CBA2-3831-F38C-A390ADD934FD}"/>
              </a:ext>
            </a:extLst>
          </p:cNvPr>
          <p:cNvSpPr/>
          <p:nvPr/>
        </p:nvSpPr>
        <p:spPr>
          <a:xfrm>
            <a:off x="596574" y="829952"/>
            <a:ext cx="1088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sz="20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 환경</a:t>
            </a:r>
            <a:endParaRPr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31037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AF545-AB3F-7A99-215C-3B18EFCF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5241EE8-DD10-B905-5C62-F979456A6F7B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Ⅲ.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개발 환경 및 예상 결과물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81C7E8-CA33-49B9-FBF0-50168A2E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20</a:t>
            </a:fld>
            <a:endParaRPr kumimoji="1" lang="ko-Kore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712793-E772-D2ED-D03F-AE9734EFCBE3}"/>
              </a:ext>
            </a:extLst>
          </p:cNvPr>
          <p:cNvGrpSpPr/>
          <p:nvPr/>
        </p:nvGrpSpPr>
        <p:grpSpPr>
          <a:xfrm>
            <a:off x="426707" y="835131"/>
            <a:ext cx="1450243" cy="400110"/>
            <a:chOff x="426707" y="780267"/>
            <a:chExt cx="1450243" cy="40011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4BDD8CD-F191-7688-C579-C5D47EFDC9BB}"/>
                </a:ext>
              </a:extLst>
            </p:cNvPr>
            <p:cNvSpPr/>
            <p:nvPr/>
          </p:nvSpPr>
          <p:spPr>
            <a:xfrm>
              <a:off x="528504" y="780267"/>
              <a:ext cx="13484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b="1" spc="-15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예상 결과물</a:t>
              </a:r>
              <a:endParaRPr lang="ko-Kore-KR" altLang="en-US" sz="200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CC22E36A-05EC-479A-6540-7C9AB9884BAC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246F35A-77C2-7EAC-A83F-1A70E8DCA855}"/>
              </a:ext>
            </a:extLst>
          </p:cNvPr>
          <p:cNvSpPr txBox="1"/>
          <p:nvPr/>
        </p:nvSpPr>
        <p:spPr>
          <a:xfrm>
            <a:off x="451335" y="4785962"/>
            <a:ext cx="9454665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en-US" altLang="ko-KR" sz="1600" b="1" dirty="0">
                <a:solidFill>
                  <a:schemeClr val="tx1"/>
                </a:solidFill>
              </a:rPr>
              <a:t>AR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기기 무선 보안 취약점 확인 및 분석</a:t>
            </a:r>
            <a:br>
              <a:rPr kumimoji="1" lang="en-US" altLang="ko-KR" sz="1600" b="1" dirty="0"/>
            </a:br>
            <a:r>
              <a:rPr kumimoji="1" lang="en-US" altLang="ko-KR" sz="1600" dirty="0"/>
              <a:t>AR</a:t>
            </a:r>
            <a:r>
              <a:rPr kumimoji="1" lang="ko-KR" altLang="en-US" sz="1600" dirty="0"/>
              <a:t>기기 </a:t>
            </a:r>
            <a:r>
              <a:rPr kumimoji="1" lang="ko-KR" altLang="en-US" sz="1600" dirty="0">
                <a:solidFill>
                  <a:schemeClr val="tx1"/>
                </a:solidFill>
              </a:rPr>
              <a:t>공격을 통해 조작한 데이터를 외부로 전송하여 사용자는 피해를 입음</a:t>
            </a:r>
            <a:endParaRPr kumimoji="1" lang="en-US" altLang="ko-KR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600" b="1" dirty="0">
                <a:solidFill>
                  <a:schemeClr val="tx1"/>
                </a:solidFill>
              </a:rPr>
              <a:t>보안 대응책 개발</a:t>
            </a:r>
            <a:br>
              <a:rPr kumimoji="1" lang="en-US" altLang="ko-KR" sz="1600" b="1" dirty="0"/>
            </a:br>
            <a:r>
              <a:rPr kumimoji="1" lang="en-US" altLang="ko-KR" sz="1600" dirty="0"/>
              <a:t>AI</a:t>
            </a:r>
            <a:r>
              <a:rPr kumimoji="1" lang="ko-KR" altLang="en-US" sz="1600" dirty="0"/>
              <a:t>기반 보안 대응책 개발하여</a:t>
            </a:r>
            <a:r>
              <a:rPr lang="en-US" altLang="ko-KR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BLE </a:t>
            </a:r>
            <a:r>
              <a:rPr lang="ko-KR" altLang="en-US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r>
              <a:rPr lang="en-US" altLang="ko-KR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 </a:t>
            </a:r>
            <a:r>
              <a:rPr lang="ko-KR" altLang="en-US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기기의 보안 극대화</a:t>
            </a:r>
            <a:endParaRPr lang="en-US" altLang="ko-KR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 descr="컴퓨터, 텍스트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CD22A6-2FC7-6FB0-A7B5-B781106B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91"/>
          <a:stretch>
            <a:fillRect/>
          </a:stretch>
        </p:blipFill>
        <p:spPr>
          <a:xfrm>
            <a:off x="1636825" y="1235241"/>
            <a:ext cx="6763970" cy="32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36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81640D-BC6C-1A4D-9995-95823E18B75F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무선 네트워크 프로토콜 취약점 및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AR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기기에서의 악용 사례 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D3EC49-B928-D472-A8F6-6FBFD0C7853E}"/>
              </a:ext>
            </a:extLst>
          </p:cNvPr>
          <p:cNvSpPr/>
          <p:nvPr/>
        </p:nvSpPr>
        <p:spPr>
          <a:xfrm>
            <a:off x="379252" y="2067886"/>
            <a:ext cx="5971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Ⅳ.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프로젝트 향후 계획  </a:t>
            </a:r>
          </a:p>
        </p:txBody>
      </p:sp>
    </p:spTree>
    <p:extLst>
      <p:ext uri="{BB962C8B-B14F-4D97-AF65-F5344CB8AC3E}">
        <p14:creationId xmlns:p14="http://schemas.microsoft.com/office/powerpoint/2010/main" val="1521865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D42F-AC11-E7A3-478D-9DFCB2DD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65A1F2B-9BE1-DA30-2F14-A60DE17B4CD4}"/>
              </a:ext>
            </a:extLst>
          </p:cNvPr>
          <p:cNvGraphicFramePr>
            <a:graphicFrameLocks noGrp="1"/>
          </p:cNvGraphicFramePr>
          <p:nvPr/>
        </p:nvGraphicFramePr>
        <p:xfrm>
          <a:off x="713062" y="1353674"/>
          <a:ext cx="8641097" cy="5019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1953">
                  <a:extLst>
                    <a:ext uri="{9D8B030D-6E8A-4147-A177-3AD203B41FA5}">
                      <a16:colId xmlns:a16="http://schemas.microsoft.com/office/drawing/2014/main" val="1295093238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335411680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4072275096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2447297839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2055667106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215372163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1126669709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246433220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430427799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1472650398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2993128446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1045979321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559355376"/>
                    </a:ext>
                  </a:extLst>
                </a:gridCol>
              </a:tblGrid>
              <a:tr h="57934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4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5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6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7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8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9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10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12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0136636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자료</a:t>
                      </a:r>
                      <a:r>
                        <a:rPr lang="en-US" altLang="ko-KR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조사 및 주제 선정</a:t>
                      </a:r>
                      <a:endParaRPr lang="en-US" altLang="ko-KR" sz="12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156588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BLE</a:t>
                      </a:r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장비 취약점 및</a:t>
                      </a:r>
                      <a:br>
                        <a:rPr lang="en-US" altLang="ko-KR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공격방식 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5365808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BLE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장비 공격 및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취약점 분석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010918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취약점 해결을 위한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학습 모델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225115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시현 및 테스트</a:t>
                      </a:r>
                      <a:b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진행중</a:t>
                      </a:r>
                      <a: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rgbClr val="0000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155360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작품 완성 및</a:t>
                      </a:r>
                      <a:endParaRPr lang="en-US" altLang="ko-KR" sz="12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전시회 출품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049107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프로젝트 결과 보고서 및 논문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061703"/>
                  </a:ext>
                </a:extLst>
              </a:tr>
            </a:tbl>
          </a:graphicData>
        </a:graphic>
      </p:graphicFrame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06AABE2F-787C-6B14-5F32-8D9A59B4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22</a:t>
            </a:fld>
            <a:endParaRPr kumimoji="1"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06E5D2-2743-EC57-15F9-82AAAF17FDEB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Ⅳ</a:t>
            </a: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프로젝트 향후 계획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F7C23FE-92B8-AE34-4D60-0C3A2B33BBAA}"/>
              </a:ext>
            </a:extLst>
          </p:cNvPr>
          <p:cNvGrpSpPr/>
          <p:nvPr/>
        </p:nvGrpSpPr>
        <p:grpSpPr>
          <a:xfrm>
            <a:off x="426707" y="835131"/>
            <a:ext cx="2094650" cy="400110"/>
            <a:chOff x="426707" y="780267"/>
            <a:chExt cx="2094650" cy="4001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D6A895-3DDA-F402-C5F1-269DED50540B}"/>
                </a:ext>
              </a:extLst>
            </p:cNvPr>
            <p:cNvSpPr/>
            <p:nvPr/>
          </p:nvSpPr>
          <p:spPr>
            <a:xfrm>
              <a:off x="528504" y="780267"/>
              <a:ext cx="199285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b="1" spc="-15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계획대비 진행상황</a:t>
              </a:r>
              <a:endParaRPr lang="ko-Kore-KR" altLang="en-US" sz="200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9F3BFAC-EE54-8811-981F-4E27434DA939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72330C0-EBDC-25CA-CC92-6999AFAAEC67}"/>
              </a:ext>
            </a:extLst>
          </p:cNvPr>
          <p:cNvSpPr/>
          <p:nvPr/>
        </p:nvSpPr>
        <p:spPr>
          <a:xfrm>
            <a:off x="2387576" y="2112062"/>
            <a:ext cx="1145249" cy="25527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8F0E6FD-B7B3-A547-0ABB-0D8E18DE1219}"/>
              </a:ext>
            </a:extLst>
          </p:cNvPr>
          <p:cNvSpPr/>
          <p:nvPr/>
        </p:nvSpPr>
        <p:spPr>
          <a:xfrm>
            <a:off x="3532829" y="3413149"/>
            <a:ext cx="2310410" cy="25527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52584-C12D-8534-B630-3753F5146EE3}"/>
              </a:ext>
            </a:extLst>
          </p:cNvPr>
          <p:cNvSpPr txBox="1"/>
          <p:nvPr/>
        </p:nvSpPr>
        <p:spPr>
          <a:xfrm>
            <a:off x="6308235" y="835131"/>
            <a:ext cx="143648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계획발표</a:t>
            </a:r>
            <a:r>
              <a:rPr lang="en-US" altLang="ko-KR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255B02CA-005E-B0BF-BF5C-84D62C13E84C}"/>
              </a:ext>
            </a:extLst>
          </p:cNvPr>
          <p:cNvSpPr/>
          <p:nvPr/>
        </p:nvSpPr>
        <p:spPr>
          <a:xfrm>
            <a:off x="2936973" y="2765763"/>
            <a:ext cx="1145236" cy="25527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화살표: 오른쪽 11">
            <a:extLst>
              <a:ext uri="{FF2B5EF4-FFF2-40B4-BE49-F238E27FC236}">
                <a16:creationId xmlns:a16="http://schemas.microsoft.com/office/drawing/2014/main" id="{3EA9D8E8-5724-138D-4D8A-CE52C4B3843F}"/>
              </a:ext>
            </a:extLst>
          </p:cNvPr>
          <p:cNvSpPr/>
          <p:nvPr/>
        </p:nvSpPr>
        <p:spPr>
          <a:xfrm>
            <a:off x="5253432" y="4034744"/>
            <a:ext cx="1203119" cy="25527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11">
            <a:extLst>
              <a:ext uri="{FF2B5EF4-FFF2-40B4-BE49-F238E27FC236}">
                <a16:creationId xmlns:a16="http://schemas.microsoft.com/office/drawing/2014/main" id="{44661E0C-B1D1-65AA-BC83-F28D7986BC99}"/>
              </a:ext>
            </a:extLst>
          </p:cNvPr>
          <p:cNvSpPr/>
          <p:nvPr/>
        </p:nvSpPr>
        <p:spPr>
          <a:xfrm>
            <a:off x="5253432" y="4667822"/>
            <a:ext cx="2307095" cy="255270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17">
            <a:extLst>
              <a:ext uri="{FF2B5EF4-FFF2-40B4-BE49-F238E27FC236}">
                <a16:creationId xmlns:a16="http://schemas.microsoft.com/office/drawing/2014/main" id="{3886E808-6148-9516-AA8D-C684E86F31E1}"/>
              </a:ext>
            </a:extLst>
          </p:cNvPr>
          <p:cNvCxnSpPr>
            <a:cxnSpLocks/>
          </p:cNvCxnSpPr>
          <p:nvPr/>
        </p:nvCxnSpPr>
        <p:spPr>
          <a:xfrm>
            <a:off x="7028869" y="1280509"/>
            <a:ext cx="0" cy="531209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28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81640D-BC6C-1A4D-9995-95823E18B75F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무선 네트워크 프로토콜 취약점 및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AR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기기에서의 악용 사례 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5618EE-C221-0FE4-3CCC-D598074410B4}"/>
              </a:ext>
            </a:extLst>
          </p:cNvPr>
          <p:cNvSpPr/>
          <p:nvPr/>
        </p:nvSpPr>
        <p:spPr>
          <a:xfrm>
            <a:off x="379252" y="2067886"/>
            <a:ext cx="5775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Ⅴ</a:t>
            </a: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기대효과</a:t>
            </a:r>
          </a:p>
        </p:txBody>
      </p:sp>
    </p:spTree>
    <p:extLst>
      <p:ext uri="{BB962C8B-B14F-4D97-AF65-F5344CB8AC3E}">
        <p14:creationId xmlns:p14="http://schemas.microsoft.com/office/powerpoint/2010/main" val="483563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C0EE-DCE1-5A6A-049B-938510BA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3AB87D45-49AF-0B42-86DF-88F3A539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24</a:t>
            </a:fld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DE4B38-5765-E6DB-1CA2-2B054E164B95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Ⅵ.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기대 효과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9579AC-830A-8CAC-9F31-70DBD910D8D3}"/>
              </a:ext>
            </a:extLst>
          </p:cNvPr>
          <p:cNvGrpSpPr/>
          <p:nvPr/>
        </p:nvGrpSpPr>
        <p:grpSpPr>
          <a:xfrm>
            <a:off x="426707" y="835131"/>
            <a:ext cx="1190557" cy="400110"/>
            <a:chOff x="426707" y="780267"/>
            <a:chExt cx="1190557" cy="40011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7D0C23-DE97-D7D6-36E2-AE9B4F75C8B1}"/>
                </a:ext>
              </a:extLst>
            </p:cNvPr>
            <p:cNvSpPr/>
            <p:nvPr/>
          </p:nvSpPr>
          <p:spPr>
            <a:xfrm>
              <a:off x="528504" y="780267"/>
              <a:ext cx="10887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기대 효과</a:t>
              </a:r>
              <a:endParaRPr lang="ko-Kore-KR" altLang="en-US" sz="200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A393EE9-BDD0-BAF1-E3A7-749497CFB9B6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1558E5-A8DB-485C-D2D7-B4BF9967C8C1}"/>
              </a:ext>
            </a:extLst>
          </p:cNvPr>
          <p:cNvSpPr/>
          <p:nvPr/>
        </p:nvSpPr>
        <p:spPr>
          <a:xfrm>
            <a:off x="528504" y="1486265"/>
            <a:ext cx="8920800" cy="1223932"/>
          </a:xfrm>
          <a:prstGeom prst="roundRect">
            <a:avLst/>
          </a:prstGeom>
          <a:solidFill>
            <a:srgbClr val="F2F2F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</a:rPr>
              <a:t>웨어러블 기기 </a:t>
            </a:r>
            <a:r>
              <a:rPr lang="ko-KR" altLang="en-US" dirty="0">
                <a:solidFill>
                  <a:srgbClr val="0000FF"/>
                </a:solidFill>
              </a:rPr>
              <a:t>보안성 강화</a:t>
            </a:r>
            <a:r>
              <a:rPr lang="en-US" altLang="ko-KR" sz="1400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</a:t>
            </a:r>
            <a:b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</a:rPr>
              <a:t>BLE </a:t>
            </a:r>
            <a:r>
              <a:rPr lang="ko-KR" altLang="en-US" sz="1400" b="1" dirty="0">
                <a:solidFill>
                  <a:schemeClr val="tx1"/>
                </a:solidFill>
              </a:rPr>
              <a:t>기반 </a:t>
            </a:r>
            <a:r>
              <a:rPr lang="en-US" altLang="ko-KR" sz="1400" b="1" dirty="0">
                <a:solidFill>
                  <a:schemeClr val="tx1"/>
                </a:solidFill>
              </a:rPr>
              <a:t>AR/VR </a:t>
            </a:r>
            <a:r>
              <a:rPr lang="ko-KR" altLang="en-US" sz="1400" b="1" dirty="0">
                <a:solidFill>
                  <a:schemeClr val="tx1"/>
                </a:solidFill>
              </a:rPr>
              <a:t>수트 및 </a:t>
            </a:r>
            <a:r>
              <a:rPr lang="en-US" altLang="ko-KR" sz="1400" b="1" dirty="0">
                <a:solidFill>
                  <a:schemeClr val="tx1"/>
                </a:solidFill>
              </a:rPr>
              <a:t>IoT </a:t>
            </a:r>
            <a:r>
              <a:rPr lang="ko-KR" altLang="en-US" sz="1400" b="1" dirty="0">
                <a:solidFill>
                  <a:schemeClr val="tx1"/>
                </a:solidFill>
              </a:rPr>
              <a:t>기기</a:t>
            </a:r>
            <a:r>
              <a:rPr lang="ko-KR" altLang="en-US" sz="1400" dirty="0">
                <a:solidFill>
                  <a:schemeClr val="tx1"/>
                </a:solidFill>
              </a:rPr>
              <a:t>의 </a:t>
            </a:r>
            <a:r>
              <a:rPr lang="ko-KR" altLang="en-US" sz="1400" b="1" dirty="0">
                <a:solidFill>
                  <a:schemeClr val="tx1"/>
                </a:solidFill>
              </a:rPr>
              <a:t>무결성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인증 취약점</a:t>
            </a:r>
            <a:r>
              <a:rPr lang="ko-KR" altLang="en-US" sz="1400" dirty="0">
                <a:solidFill>
                  <a:schemeClr val="tx1"/>
                </a:solidFill>
              </a:rPr>
              <a:t>을 실험적으로 검증하여 위험성을 명확히 제시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8926F3A-FBBE-E3C4-ED63-75DBEA3F0F11}"/>
              </a:ext>
            </a:extLst>
          </p:cNvPr>
          <p:cNvSpPr/>
          <p:nvPr/>
        </p:nvSpPr>
        <p:spPr>
          <a:xfrm>
            <a:off x="528504" y="3125507"/>
            <a:ext cx="8920800" cy="1223932"/>
          </a:xfrm>
          <a:prstGeom prst="roundRect">
            <a:avLst/>
          </a:prstGeom>
          <a:solidFill>
            <a:srgbClr val="F2F2F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효율적인 </a:t>
            </a:r>
            <a:r>
              <a:rPr lang="ko-KR" altLang="en-US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공격 탐지 시스템 </a:t>
            </a:r>
            <a:b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기반 실시간 패킷 이상 탐지 기법</a:t>
            </a:r>
            <a:r>
              <a:rPr lang="ko-KR" altLang="en-US" sz="1400" dirty="0">
                <a:solidFill>
                  <a:schemeClr val="tx1"/>
                </a:solidFill>
              </a:rPr>
              <a:t>을 제안하여 방어 체계 고도화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F3627F-68CA-BE94-DC18-40A8104848F5}"/>
              </a:ext>
            </a:extLst>
          </p:cNvPr>
          <p:cNvSpPr/>
          <p:nvPr/>
        </p:nvSpPr>
        <p:spPr>
          <a:xfrm>
            <a:off x="528504" y="4739320"/>
            <a:ext cx="8920800" cy="1223932"/>
          </a:xfrm>
          <a:prstGeom prst="roundRect">
            <a:avLst/>
          </a:prstGeom>
          <a:solidFill>
            <a:srgbClr val="F2F2F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기존 보안 방법과 함께 </a:t>
            </a:r>
            <a:r>
              <a:rPr lang="ko-KR" altLang="en-US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다층적인 보안 체계 구축</a:t>
            </a:r>
            <a:endParaRPr lang="en-US" altLang="ko-KR" dirty="0">
              <a:solidFill>
                <a:srgbClr val="0000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다른 보안 시스템과 통합하여 보다 효과적인 보안 체계 구축 가능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1665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7F25-5C04-8FF9-E9EA-0F1A4D76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B735E3A8-9A7B-04A9-3F6C-C38AE4F4E7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726C98-C1BF-3BF6-B929-53DF4420C9BF}"/>
              </a:ext>
            </a:extLst>
          </p:cNvPr>
          <p:cNvSpPr/>
          <p:nvPr/>
        </p:nvSpPr>
        <p:spPr>
          <a:xfrm>
            <a:off x="-13" y="0"/>
            <a:ext cx="9906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ore-KR" altLang="en-US" sz="36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A932E2F-EF86-B5C2-546C-D1875440D91E}"/>
              </a:ext>
            </a:extLst>
          </p:cNvPr>
          <p:cNvSpPr txBox="1"/>
          <p:nvPr/>
        </p:nvSpPr>
        <p:spPr>
          <a:xfrm>
            <a:off x="3446003" y="3105834"/>
            <a:ext cx="2879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600" spc="1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감사합니다 </a:t>
            </a:r>
            <a:r>
              <a:rPr kumimoji="1" lang="en-US" altLang="ko-KR" sz="3600" spc="1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</a:t>
            </a:r>
            <a:endParaRPr kumimoji="1" lang="ko-Kore-KR" altLang="en-US" sz="3600" spc="1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372411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856</TotalTime>
  <Words>1320</Words>
  <Application>Microsoft Macintosh PowerPoint</Application>
  <PresentationFormat>A4 용지(210x297mm)</PresentationFormat>
  <Paragraphs>218</Paragraphs>
  <Slides>25</Slides>
  <Notes>7</Notes>
  <HiddenSlides>0</HiddenSlides>
  <MMClips>1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8" baseType="lpstr">
      <vt:lpstr>NanumGothic</vt:lpstr>
      <vt:lpstr>나눔스퀘어 Bold</vt:lpstr>
      <vt:lpstr>나눔스퀘어 ExtraBold</vt:lpstr>
      <vt:lpstr>나눔스퀘어OTF Bold</vt:lpstr>
      <vt:lpstr>맑은 고딕</vt:lpstr>
      <vt:lpstr>Google Sans Display</vt:lpstr>
      <vt:lpstr>inherit</vt:lpstr>
      <vt:lpstr>KoPubDotum Medium</vt:lpstr>
      <vt:lpstr>Arial</vt:lpstr>
      <vt:lpstr>Calibri</vt:lpstr>
      <vt:lpstr>Calibri Light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나성균</dc:creator>
  <cp:lastModifiedBy>민현선</cp:lastModifiedBy>
  <cp:revision>24</cp:revision>
  <cp:lastPrinted>2021-12-22T04:43:14Z</cp:lastPrinted>
  <dcterms:created xsi:type="dcterms:W3CDTF">2021-08-02T08:08:44Z</dcterms:created>
  <dcterms:modified xsi:type="dcterms:W3CDTF">2025-09-07T17:18:58Z</dcterms:modified>
</cp:coreProperties>
</file>