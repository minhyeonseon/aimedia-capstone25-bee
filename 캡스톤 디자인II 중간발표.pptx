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26"/>
  </p:notesMasterIdLst>
  <p:sldIdLst>
    <p:sldId id="331" r:id="rId2"/>
    <p:sldId id="419" r:id="rId3"/>
    <p:sldId id="259" r:id="rId4"/>
    <p:sldId id="426" r:id="rId5"/>
    <p:sldId id="438" r:id="rId6"/>
    <p:sldId id="450" r:id="rId7"/>
    <p:sldId id="421" r:id="rId8"/>
    <p:sldId id="434" r:id="rId9"/>
    <p:sldId id="451" r:id="rId10"/>
    <p:sldId id="453" r:id="rId11"/>
    <p:sldId id="462" r:id="rId12"/>
    <p:sldId id="461" r:id="rId13"/>
    <p:sldId id="465" r:id="rId14"/>
    <p:sldId id="454" r:id="rId15"/>
    <p:sldId id="455" r:id="rId16"/>
    <p:sldId id="464" r:id="rId17"/>
    <p:sldId id="457" r:id="rId18"/>
    <p:sldId id="386" r:id="rId19"/>
    <p:sldId id="370" r:id="rId20"/>
    <p:sldId id="336" r:id="rId21"/>
    <p:sldId id="446" r:id="rId22"/>
    <p:sldId id="341" r:id="rId23"/>
    <p:sldId id="425" r:id="rId24"/>
    <p:sldId id="350" r:id="rId25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0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2342"/>
    <a:srgbClr val="60A3C0"/>
    <a:srgbClr val="060A0C"/>
    <a:srgbClr val="33CC33"/>
    <a:srgbClr val="008000"/>
    <a:srgbClr val="00CC00"/>
    <a:srgbClr val="E2E2E2"/>
    <a:srgbClr val="003E7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94744"/>
  </p:normalViewPr>
  <p:slideViewPr>
    <p:cSldViewPr snapToGrid="0">
      <p:cViewPr varScale="1">
        <p:scale>
          <a:sx n="83" d="100"/>
          <a:sy n="83" d="100"/>
        </p:scale>
        <p:origin x="1197" y="54"/>
      </p:cViewPr>
      <p:guideLst>
        <p:guide orient="horz" pos="2251"/>
        <p:guide pos="30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0971C3-2FE8-A041-81A8-50F459037EA8}" type="datetimeFigureOut">
              <a:rPr kumimoji="1" lang="ko-Kore-KR" altLang="en-US" smtClean="0"/>
              <a:t>10/12/2025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D0568-9006-0845-A338-543A1244C02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76523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80397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 상황 </a:t>
            </a:r>
            <a:br>
              <a:rPr lang="en-US" altLang="ko-KR" dirty="0"/>
            </a:br>
            <a:r>
              <a:rPr lang="en-US" altLang="ko-KR" dirty="0" err="1"/>
              <a:t>bHaptics</a:t>
            </a:r>
            <a:r>
              <a:rPr lang="en-US" altLang="ko-KR" dirty="0"/>
              <a:t> Player : </a:t>
            </a:r>
            <a:r>
              <a:rPr lang="en-US" altLang="ko-KR" dirty="0" err="1"/>
              <a:t>TactSuit</a:t>
            </a:r>
            <a:r>
              <a:rPr lang="en-US" altLang="ko-KR" dirty="0"/>
              <a:t> </a:t>
            </a:r>
            <a:r>
              <a:rPr lang="ko-KR" altLang="en-US" dirty="0"/>
              <a:t>제어하는 공식 앱 </a:t>
            </a:r>
            <a:r>
              <a:rPr lang="en-US" altLang="ko-KR" dirty="0"/>
              <a:t>( </a:t>
            </a:r>
            <a:r>
              <a:rPr lang="ko-KR" altLang="en-US" dirty="0"/>
              <a:t>진동 피드백 등을 제공해준다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12057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3522-4F19-9172-0B14-B1E6BB42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D4C129-7E7E-52E7-AE9D-886801AC3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A51F61-EDCA-8D17-739B-C24A8AB64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취약점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설명후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이로인해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공격자는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스마트워치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무선 키보드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의료기기 등에서 민감한 데이터를 탈취하거나 기기를 원격 조작하는 등 심각한 피해를 유발할 수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며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환경의 신뢰성과 안전성에 큰 위협이 된다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Bluetooth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가장 위험한 취약점 중 하나는 중간자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(MITM, Man-in-the-Middle)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공격이다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공격은 공격자가 두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Bluetooth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장치 사이의 통신을 가로채고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모르게 메시지를 조작하거나 도청할 수 있도록 한다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Works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같은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페어링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방식은 암호화 키 교환 시 인증을 생략하거나 약화시켜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공격자가 쉽게 연결을 가로챌 수 있는 구조적 취약점을 가진다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이로 인해 공격자는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스마트워치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무선 키보드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의료기기 등에서 민감한 데이터를 탈취하거나 기기를 원격 조작하는 등 심각한 피해를 유발할 수 있으며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환경의 신뢰성과 안전성에 큰 위협이 된다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Works: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Bluetooth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사용되는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페어링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 중 하나로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ko-KR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개입 없이 간단하게 두 장치를 연결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있도록 설계된 방식</a:t>
            </a:r>
            <a:endParaRPr lang="en-US" altLang="ko-KR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BB4CA-985B-99A0-EF30-5B6E32CD6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7244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실제로 </a:t>
            </a:r>
            <a:r>
              <a:rPr kumimoji="1" lang="ko-KR" altLang="en-US" dirty="0" err="1"/>
              <a:t>지터값이</a:t>
            </a:r>
            <a:r>
              <a:rPr kumimoji="1" lang="ko-KR" altLang="en-US" dirty="0"/>
              <a:t> 불규칙해지는 현상 확인 완료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47375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636C-47BD-3557-E54D-D90EA737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B9A198-BF65-8903-25DF-31DE75CAD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95CE4A-9135-90B7-3210-DBB0E13FF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실제로 </a:t>
            </a:r>
            <a:r>
              <a:rPr kumimoji="1" lang="ko-KR" altLang="en-US" dirty="0" err="1"/>
              <a:t>지터값이</a:t>
            </a:r>
            <a:r>
              <a:rPr kumimoji="1" lang="ko-KR" altLang="en-US" dirty="0"/>
              <a:t> 불규칙해지는 현상 확인 완료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69F009-EF17-6282-73DA-3C96CE0A7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2346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0679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31303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solidFill>
                  <a:schemeClr val="tx1"/>
                </a:solidFill>
              </a:rPr>
              <a:t>단순 패턴 매칭 기반 보안 솔루션의 한계를 넘어</a:t>
            </a:r>
            <a:r>
              <a:rPr lang="en-US" altLang="ko-KR" sz="1200" dirty="0">
                <a:solidFill>
                  <a:schemeClr val="tx1"/>
                </a:solidFill>
              </a:rPr>
              <a:t> </a:t>
            </a:r>
            <a:r>
              <a:rPr lang="en-US" altLang="ko-KR" sz="1200" b="1" dirty="0">
                <a:solidFill>
                  <a:schemeClr val="tx1"/>
                </a:solidFill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</a:rPr>
              <a:t>기반 실시간 패킷 이상 탐지 기법</a:t>
            </a:r>
            <a:r>
              <a:rPr lang="ko-KR" altLang="en-US" sz="1200" dirty="0">
                <a:solidFill>
                  <a:schemeClr val="tx1"/>
                </a:solidFill>
              </a:rPr>
              <a:t>을 제안하여 방어 체계 고도화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0568-9006-0845-A338-543A1244C029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0044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9F59C82-3FA6-6D40-A96C-5D212AF0FF43}"/>
              </a:ext>
            </a:extLst>
          </p:cNvPr>
          <p:cNvSpPr/>
          <p:nvPr userDrawn="1"/>
        </p:nvSpPr>
        <p:spPr>
          <a:xfrm>
            <a:off x="0" y="0"/>
            <a:ext cx="9906000" cy="648393"/>
          </a:xfrm>
          <a:prstGeom prst="rect">
            <a:avLst/>
          </a:prstGeom>
          <a:gradFill flip="none" rotWithShape="1">
            <a:gsLst>
              <a:gs pos="0">
                <a:srgbClr val="1A93CA"/>
              </a:gs>
              <a:gs pos="76000">
                <a:srgbClr val="003E78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0AD84-9EBA-191C-5802-459ADD1DAD8F}"/>
              </a:ext>
            </a:extLst>
          </p:cNvPr>
          <p:cNvSpPr txBox="1">
            <a:spLocks/>
          </p:cNvSpPr>
          <p:nvPr userDrawn="1"/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3927E6-8B9F-0640-88B8-E9C1DF982289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624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EB69-FD53-C743-B21E-723777EB6C09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89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2917B-A0D4-C04B-8C35-E3513FB2B74E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356352"/>
            <a:ext cx="2228850" cy="365125"/>
          </a:xfrm>
        </p:spPr>
        <p:txBody>
          <a:bodyPr/>
          <a:lstStyle>
            <a:lvl1pPr algn="ctr">
              <a:defRPr/>
            </a:lvl1pPr>
          </a:lstStyle>
          <a:p>
            <a:fld id="{873927E6-8B9F-0640-88B8-E9C1DF982289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AB29D0-3CA3-9343-9A04-93AA93ED551A}"/>
              </a:ext>
            </a:extLst>
          </p:cNvPr>
          <p:cNvSpPr/>
          <p:nvPr userDrawn="1"/>
        </p:nvSpPr>
        <p:spPr>
          <a:xfrm>
            <a:off x="0" y="0"/>
            <a:ext cx="9906000" cy="648393"/>
          </a:xfrm>
          <a:prstGeom prst="rect">
            <a:avLst/>
          </a:prstGeom>
          <a:gradFill flip="none" rotWithShape="1">
            <a:gsLst>
              <a:gs pos="0">
                <a:srgbClr val="1985B7"/>
              </a:gs>
              <a:gs pos="47000">
                <a:srgbClr val="003E78"/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6226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0730-2B45-E946-A0B3-9E71CE126F28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390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D8F16-6EE0-7348-BF8B-42B6A9BB0833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9848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848C-E409-6F49-BAB6-BD0AF5FB5CB1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684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CED9-FA0B-0345-907F-9788E37A5CC3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1818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7A055-92A9-8341-8328-584F0FF08675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8884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0E10E-6312-2D4C-A939-34ED7F65D512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293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884E-6282-B34E-98FB-0E24489849B5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521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6533-AC09-B146-8216-8715EF62E7C1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10611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38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0E586-C19F-5E48-BADB-7CB3B062922F}" type="datetime1">
              <a:rPr kumimoji="1" lang="ko-KR" altLang="en-US" smtClean="0"/>
              <a:t>2025-10-12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927E6-8B9F-0640-88B8-E9C1DF98228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7469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8BB3481A-BFD8-F447-B6B6-19A724743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13" name="자유형 12">
            <a:extLst>
              <a:ext uri="{FF2B5EF4-FFF2-40B4-BE49-F238E27FC236}">
                <a16:creationId xmlns:a16="http://schemas.microsoft.com/office/drawing/2014/main" id="{998016EB-A1E2-D94B-B6AB-7123EB7E534E}"/>
              </a:ext>
            </a:extLst>
          </p:cNvPr>
          <p:cNvSpPr/>
          <p:nvPr/>
        </p:nvSpPr>
        <p:spPr>
          <a:xfrm rot="10800000">
            <a:off x="2927927" y="0"/>
            <a:ext cx="6978058" cy="6858000"/>
          </a:xfrm>
          <a:custGeom>
            <a:avLst/>
            <a:gdLst>
              <a:gd name="connsiteX0" fmla="*/ 0 w 1765197"/>
              <a:gd name="connsiteY0" fmla="*/ 0 h 1504102"/>
              <a:gd name="connsiteX1" fmla="*/ 847064 w 1765197"/>
              <a:gd name="connsiteY1" fmla="*/ 0 h 1504102"/>
              <a:gd name="connsiteX2" fmla="*/ 1765197 w 1765197"/>
              <a:gd name="connsiteY2" fmla="*/ 1504102 h 1504102"/>
              <a:gd name="connsiteX3" fmla="*/ 0 w 1765197"/>
              <a:gd name="connsiteY3" fmla="*/ 1504102 h 150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5197" h="1504102">
                <a:moveTo>
                  <a:pt x="0" y="0"/>
                </a:moveTo>
                <a:lnTo>
                  <a:pt x="847064" y="0"/>
                </a:lnTo>
                <a:lnTo>
                  <a:pt x="1765197" y="1504102"/>
                </a:lnTo>
                <a:lnTo>
                  <a:pt x="0" y="1504102"/>
                </a:lnTo>
                <a:close/>
              </a:path>
            </a:pathLst>
          </a:custGeom>
          <a:solidFill>
            <a:schemeClr val="bg1">
              <a:alpha val="9077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ore-KR" altLang="en-US" sz="36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3D0680-3692-4345-87C2-B7B6DB724C5D}"/>
              </a:ext>
            </a:extLst>
          </p:cNvPr>
          <p:cNvSpPr txBox="1"/>
          <p:nvPr/>
        </p:nvSpPr>
        <p:spPr>
          <a:xfrm>
            <a:off x="4173565" y="1997827"/>
            <a:ext cx="5604419" cy="95410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/>
            <a:r>
              <a:rPr kumimoji="1" lang="ko-KR" altLang="en-US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웨어러블 기기의 잠재적인 블루투스</a:t>
            </a:r>
            <a:endParaRPr kumimoji="1" lang="en-US" altLang="ko-KR" sz="2800" b="1" spc="-150" dirty="0">
              <a:gradFill>
                <a:gsLst>
                  <a:gs pos="0">
                    <a:srgbClr val="1A93CA"/>
                  </a:gs>
                  <a:gs pos="76000">
                    <a:srgbClr val="00498E"/>
                  </a:gs>
                </a:gsLst>
                <a:lin ang="5400000" scaled="1"/>
              </a:gradFill>
              <a:latin typeface="나눔스퀘어 ExtraBold" panose="020B0600000101010101" pitchFamily="50" charset="-127"/>
              <a:ea typeface="나눔스퀘어 ExtraBold"/>
              <a:cs typeface="Malayalam MN" pitchFamily="2" charset="0"/>
            </a:endParaRPr>
          </a:p>
          <a:p>
            <a:pPr algn="r"/>
            <a:r>
              <a:rPr kumimoji="1" lang="ko-KR" altLang="en-US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보안 위협 및 </a:t>
            </a:r>
            <a:r>
              <a:rPr kumimoji="1" lang="en-US" altLang="ko-KR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AI </a:t>
            </a:r>
            <a:r>
              <a:rPr kumimoji="1" lang="ko-KR" altLang="en-US" sz="28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/>
                <a:cs typeface="Malayalam MN" pitchFamily="2" charset="0"/>
              </a:rPr>
              <a:t>기반 대응 방안</a:t>
            </a:r>
            <a:endParaRPr kumimoji="1" lang="en-US" altLang="ko-KR" sz="2800" b="1" spc="-150" dirty="0">
              <a:gradFill>
                <a:gsLst>
                  <a:gs pos="0">
                    <a:srgbClr val="1A93CA"/>
                  </a:gs>
                  <a:gs pos="76000">
                    <a:srgbClr val="00498E"/>
                  </a:gs>
                </a:gsLst>
                <a:lin ang="5400000" scaled="1"/>
              </a:gra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layalam MN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B266F-50AF-DE41-A3A5-B1DABA675C67}"/>
              </a:ext>
            </a:extLst>
          </p:cNvPr>
          <p:cNvSpPr txBox="1"/>
          <p:nvPr/>
        </p:nvSpPr>
        <p:spPr>
          <a:xfrm>
            <a:off x="6570017" y="3610216"/>
            <a:ext cx="3220753" cy="836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2000"/>
              </a:lnSpc>
            </a:pP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지도교수</a:t>
            </a:r>
            <a:r>
              <a:rPr kumimoji="1" lang="en-US" altLang="ko-KR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: </a:t>
            </a: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지능미디어공학과 이아현 교수님</a:t>
            </a:r>
            <a:endParaRPr kumimoji="1" lang="en-US" altLang="ko-KR" sz="14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pPr algn="r">
              <a:lnSpc>
                <a:spcPts val="2000"/>
              </a:lnSpc>
            </a:pP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지능미디어공하과 </a:t>
            </a:r>
            <a:r>
              <a:rPr kumimoji="1" lang="en-US" altLang="ko-KR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20221095</a:t>
            </a: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 민현선</a:t>
            </a:r>
            <a:endParaRPr kumimoji="1" lang="en-US" altLang="ko-KR" sz="14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pPr algn="r">
              <a:lnSpc>
                <a:spcPts val="2000"/>
              </a:lnSpc>
            </a:pP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지능미디어공학과 </a:t>
            </a:r>
            <a:r>
              <a:rPr kumimoji="1" lang="en-US" altLang="ko-KR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20221110</a:t>
            </a:r>
            <a:r>
              <a:rPr kumimoji="1" lang="ko-KR" altLang="en-US" sz="14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 이다은</a:t>
            </a:r>
            <a:endParaRPr kumimoji="1" lang="en-US" altLang="ko-KR" sz="14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C135D-0F5E-4842-97E7-0B31C1030568}"/>
              </a:ext>
            </a:extLst>
          </p:cNvPr>
          <p:cNvSpPr txBox="1"/>
          <p:nvPr/>
        </p:nvSpPr>
        <p:spPr>
          <a:xfrm>
            <a:off x="8560951" y="3234909"/>
            <a:ext cx="12298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1600" dirty="0">
                <a:solidFill>
                  <a:schemeClr val="bg2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2025.10.13.</a:t>
            </a:r>
            <a:endParaRPr kumimoji="1" lang="ko-Kore-KR" altLang="en-US" sz="1600" dirty="0">
              <a:solidFill>
                <a:schemeClr val="bg2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F040AC2-1922-7A4D-8BA0-A44029B3F9CB}"/>
              </a:ext>
            </a:extLst>
          </p:cNvPr>
          <p:cNvSpPr/>
          <p:nvPr/>
        </p:nvSpPr>
        <p:spPr>
          <a:xfrm>
            <a:off x="6675120" y="1532817"/>
            <a:ext cx="3115648" cy="29893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2025 </a:t>
            </a:r>
            <a:r>
              <a:rPr kumimoji="1" lang="ko-KR" altLang="en-US" sz="16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캡스톤디자인</a:t>
            </a:r>
            <a:r>
              <a:rPr kumimoji="1" lang="en-US" altLang="ko-KR" sz="16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</a:t>
            </a:r>
            <a:r>
              <a:rPr kumimoji="1" lang="ko-KR" altLang="en-US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 중간발표</a:t>
            </a:r>
            <a:endParaRPr kumimoji="1" lang="ko-Kore-KR" altLang="en-US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08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7AC703-0EDE-884D-9AFF-1DBCBADB24A6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ore-KR" altLang="en-US" sz="36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746E7CE-59A0-994C-AC52-A735D5AD3B7A}"/>
              </a:ext>
            </a:extLst>
          </p:cNvPr>
          <p:cNvSpPr txBox="1"/>
          <p:nvPr/>
        </p:nvSpPr>
        <p:spPr>
          <a:xfrm>
            <a:off x="1019375" y="642978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6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endParaRPr kumimoji="1" lang="ko-Kore-KR" altLang="en-US" sz="3600" b="1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C6D574B-40E5-1640-91E5-B37B94A59566}"/>
              </a:ext>
            </a:extLst>
          </p:cNvPr>
          <p:cNvGrpSpPr/>
          <p:nvPr/>
        </p:nvGrpSpPr>
        <p:grpSpPr>
          <a:xfrm>
            <a:off x="788664" y="2436031"/>
            <a:ext cx="1935009" cy="527706"/>
            <a:chOff x="3701646" y="1672067"/>
            <a:chExt cx="1935009" cy="527706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8B8F7EB3-769C-504F-85F4-48F4229512C8}"/>
                </a:ext>
              </a:extLst>
            </p:cNvPr>
            <p:cNvGrpSpPr/>
            <p:nvPr/>
          </p:nvGrpSpPr>
          <p:grpSpPr>
            <a:xfrm>
              <a:off x="3701646" y="1672067"/>
              <a:ext cx="527705" cy="527706"/>
              <a:chOff x="4484695" y="4252021"/>
              <a:chExt cx="580476" cy="580476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6D1E1D78-98B9-0F42-92EC-2C2131C2CFD0}"/>
                  </a:ext>
                </a:extLst>
              </p:cNvPr>
              <p:cNvSpPr/>
              <p:nvPr/>
            </p:nvSpPr>
            <p:spPr>
              <a:xfrm>
                <a:off x="4484695" y="4252021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id="{750BB218-57A3-B044-8E54-2124DA880911}"/>
                  </a:ext>
                </a:extLst>
              </p:cNvPr>
              <p:cNvSpPr/>
              <p:nvPr/>
            </p:nvSpPr>
            <p:spPr>
              <a:xfrm>
                <a:off x="4515783" y="4283110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00A2E0"/>
                  </a:gs>
                  <a:gs pos="100000">
                    <a:srgbClr val="0172BE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5C2B8CB5-672A-8A4F-AB69-8D136FB8C0B6}"/>
                  </a:ext>
                </a:extLst>
              </p:cNvPr>
              <p:cNvSpPr/>
              <p:nvPr/>
            </p:nvSpPr>
            <p:spPr>
              <a:xfrm>
                <a:off x="4530810" y="4354360"/>
                <a:ext cx="475389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en-US" altLang="ko-KR" sz="2000" b="1" spc="-70" dirty="0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Ⅱ</a:t>
                </a:r>
                <a:endParaRPr lang="ko-KR" altLang="en-US" sz="2000" b="1" spc="-70" dirty="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2" name="원형 101">
                <a:extLst>
                  <a:ext uri="{FF2B5EF4-FFF2-40B4-BE49-F238E27FC236}">
                    <a16:creationId xmlns:a16="http://schemas.microsoft.com/office/drawing/2014/main" id="{5D7D24E6-2B2A-8D45-8488-5423EE7790F1}"/>
                  </a:ext>
                </a:extLst>
              </p:cNvPr>
              <p:cNvSpPr/>
              <p:nvPr/>
            </p:nvSpPr>
            <p:spPr>
              <a:xfrm rot="21118652">
                <a:off x="4514170" y="4281461"/>
                <a:ext cx="524241" cy="524240"/>
              </a:xfrm>
              <a:prstGeom prst="pie">
                <a:avLst>
                  <a:gd name="adj1" fmla="val 8778596"/>
                  <a:gd name="adj2" fmla="val 19625690"/>
                </a:avLst>
              </a:prstGeom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>
                      <a:alpha val="25000"/>
                    </a:schemeClr>
                  </a:gs>
                </a:gsLst>
                <a:lin ang="18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26B88946-DCFE-614A-8940-0C65129D0AF6}"/>
                </a:ext>
              </a:extLst>
            </p:cNvPr>
            <p:cNvSpPr/>
            <p:nvPr/>
          </p:nvSpPr>
          <p:spPr>
            <a:xfrm>
              <a:off x="4301033" y="1720469"/>
              <a:ext cx="1335622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연구 내용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FE56A39-35AE-D044-A90B-6D823CEEA60D}"/>
              </a:ext>
            </a:extLst>
          </p:cNvPr>
          <p:cNvGrpSpPr/>
          <p:nvPr/>
        </p:nvGrpSpPr>
        <p:grpSpPr>
          <a:xfrm>
            <a:off x="788664" y="1654514"/>
            <a:ext cx="1935007" cy="527705"/>
            <a:chOff x="977329" y="1628824"/>
            <a:chExt cx="1935007" cy="527705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4B5DD961-0816-534A-BB51-5C30E1908C27}"/>
                </a:ext>
              </a:extLst>
            </p:cNvPr>
            <p:cNvSpPr/>
            <p:nvPr/>
          </p:nvSpPr>
          <p:spPr>
            <a:xfrm>
              <a:off x="1576714" y="1677233"/>
              <a:ext cx="1335622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연구 목표</a:t>
              </a: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8A2BAEB-CA58-BB48-8192-7E7D9583C3D8}"/>
                </a:ext>
              </a:extLst>
            </p:cNvPr>
            <p:cNvGrpSpPr/>
            <p:nvPr/>
          </p:nvGrpSpPr>
          <p:grpSpPr>
            <a:xfrm>
              <a:off x="977329" y="1628824"/>
              <a:ext cx="527705" cy="527705"/>
              <a:chOff x="4484696" y="2651822"/>
              <a:chExt cx="580476" cy="580476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3531ADA7-0731-2D43-90F3-C8916E449A2F}"/>
                  </a:ext>
                </a:extLst>
              </p:cNvPr>
              <p:cNvSpPr/>
              <p:nvPr/>
            </p:nvSpPr>
            <p:spPr>
              <a:xfrm>
                <a:off x="4484696" y="2651822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3959C82-5156-8445-80F8-FBE312FFDB3F}"/>
                  </a:ext>
                </a:extLst>
              </p:cNvPr>
              <p:cNvSpPr/>
              <p:nvPr/>
            </p:nvSpPr>
            <p:spPr>
              <a:xfrm>
                <a:off x="4515782" y="2682908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59C4E1"/>
                  </a:gs>
                  <a:gs pos="100000">
                    <a:srgbClr val="39B8DB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7" name="원형 106">
                <a:extLst>
                  <a:ext uri="{FF2B5EF4-FFF2-40B4-BE49-F238E27FC236}">
                    <a16:creationId xmlns:a16="http://schemas.microsoft.com/office/drawing/2014/main" id="{25679DC9-A0FC-7545-8C92-FAD337FD2674}"/>
                  </a:ext>
                </a:extLst>
              </p:cNvPr>
              <p:cNvSpPr/>
              <p:nvPr/>
            </p:nvSpPr>
            <p:spPr>
              <a:xfrm rot="21118652">
                <a:off x="4514165" y="2681271"/>
                <a:ext cx="524241" cy="524242"/>
              </a:xfrm>
              <a:prstGeom prst="pie">
                <a:avLst>
                  <a:gd name="adj1" fmla="val 8778596"/>
                  <a:gd name="adj2" fmla="val 19625690"/>
                </a:avLst>
              </a:prstGeom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>
                      <a:alpha val="25000"/>
                    </a:schemeClr>
                  </a:gs>
                </a:gsLst>
                <a:lin ang="18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597F709F-4F9B-664C-8A53-34CE1887E821}"/>
                  </a:ext>
                </a:extLst>
              </p:cNvPr>
              <p:cNvSpPr/>
              <p:nvPr/>
            </p:nvSpPr>
            <p:spPr>
              <a:xfrm>
                <a:off x="4530811" y="2749673"/>
                <a:ext cx="475389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en-US" altLang="ko-KR" sz="2000" b="1" spc="-70" dirty="0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Ⅰ</a:t>
                </a:r>
                <a:endParaRPr lang="ko-KR" altLang="en-US" sz="2000" b="1" spc="-70" dirty="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4" name="오각형[P] 3">
            <a:extLst>
              <a:ext uri="{FF2B5EF4-FFF2-40B4-BE49-F238E27FC236}">
                <a16:creationId xmlns:a16="http://schemas.microsoft.com/office/drawing/2014/main" id="{0B86F582-3E73-8C4F-B2C7-0D08555093F5}"/>
              </a:ext>
            </a:extLst>
          </p:cNvPr>
          <p:cNvSpPr/>
          <p:nvPr/>
        </p:nvSpPr>
        <p:spPr>
          <a:xfrm>
            <a:off x="0" y="642978"/>
            <a:ext cx="973194" cy="489136"/>
          </a:xfrm>
          <a:prstGeom prst="homePlate">
            <a:avLst>
              <a:gd name="adj" fmla="val 268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2B1070A-BD36-3349-8EDB-73F9E8314C87}"/>
              </a:ext>
            </a:extLst>
          </p:cNvPr>
          <p:cNvGrpSpPr/>
          <p:nvPr/>
        </p:nvGrpSpPr>
        <p:grpSpPr>
          <a:xfrm>
            <a:off x="788664" y="3217549"/>
            <a:ext cx="3787439" cy="527705"/>
            <a:chOff x="7242100" y="1700322"/>
            <a:chExt cx="3787439" cy="527705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11F0C9A-CB1C-7D41-BD86-608AB89BB2F4}"/>
                </a:ext>
              </a:extLst>
            </p:cNvPr>
            <p:cNvGrpSpPr/>
            <p:nvPr/>
          </p:nvGrpSpPr>
          <p:grpSpPr>
            <a:xfrm>
              <a:off x="7242100" y="1700322"/>
              <a:ext cx="527705" cy="527705"/>
              <a:chOff x="4484695" y="4252021"/>
              <a:chExt cx="580476" cy="580476"/>
            </a:xfrm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2355ECC-8983-7B48-ABF1-CD7BBBB4151B}"/>
                  </a:ext>
                </a:extLst>
              </p:cNvPr>
              <p:cNvSpPr/>
              <p:nvPr/>
            </p:nvSpPr>
            <p:spPr>
              <a:xfrm>
                <a:off x="4484695" y="4252021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6D5DFCF5-195D-FE4E-B96D-91BD6C2EBB9C}"/>
                  </a:ext>
                </a:extLst>
              </p:cNvPr>
              <p:cNvSpPr/>
              <p:nvPr/>
            </p:nvSpPr>
            <p:spPr>
              <a:xfrm>
                <a:off x="4515783" y="4283110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00A2E0"/>
                  </a:gs>
                  <a:gs pos="99000">
                    <a:srgbClr val="00498E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1ED7BBC-E8FD-2740-B4E6-1A9B6560E205}"/>
                  </a:ext>
                </a:extLst>
              </p:cNvPr>
              <p:cNvSpPr/>
              <p:nvPr/>
            </p:nvSpPr>
            <p:spPr>
              <a:xfrm>
                <a:off x="4530811" y="4354360"/>
                <a:ext cx="475389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en-US" altLang="ko-KR" sz="2000" b="1" spc="-70" dirty="0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Ⅲ</a:t>
                </a:r>
                <a:endParaRPr lang="ko-KR" altLang="en-US" sz="2000" b="1" spc="-70" dirty="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6" name="원형 25">
                <a:extLst>
                  <a:ext uri="{FF2B5EF4-FFF2-40B4-BE49-F238E27FC236}">
                    <a16:creationId xmlns:a16="http://schemas.microsoft.com/office/drawing/2014/main" id="{DD63B9D7-9CF9-A84D-9387-6E8BD81CD01C}"/>
                  </a:ext>
                </a:extLst>
              </p:cNvPr>
              <p:cNvSpPr/>
              <p:nvPr/>
            </p:nvSpPr>
            <p:spPr>
              <a:xfrm rot="21118652">
                <a:off x="4514171" y="4287416"/>
                <a:ext cx="524241" cy="524241"/>
              </a:xfrm>
              <a:prstGeom prst="pie">
                <a:avLst>
                  <a:gd name="adj1" fmla="val 8778596"/>
                  <a:gd name="adj2" fmla="val 19625690"/>
                </a:avLst>
              </a:prstGeom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>
                      <a:alpha val="25000"/>
                    </a:schemeClr>
                  </a:gs>
                </a:gsLst>
                <a:lin ang="18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2AAFB3D-F2C7-4449-B594-28E41F0CAB10}"/>
                </a:ext>
              </a:extLst>
            </p:cNvPr>
            <p:cNvSpPr/>
            <p:nvPr/>
          </p:nvSpPr>
          <p:spPr>
            <a:xfrm>
              <a:off x="7841487" y="1748732"/>
              <a:ext cx="3188052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환경 및 예상 결과물</a:t>
              </a:r>
              <a:endParaRPr lang="en-US" altLang="ko-KR" sz="2200" b="1" spc="-120" dirty="0">
                <a:ln w="3175">
                  <a:solidFill>
                    <a:srgbClr val="102557">
                      <a:alpha val="1000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2D9E87-1264-ECD3-CBC0-C6DDFE270365}"/>
              </a:ext>
            </a:extLst>
          </p:cNvPr>
          <p:cNvGrpSpPr/>
          <p:nvPr/>
        </p:nvGrpSpPr>
        <p:grpSpPr>
          <a:xfrm>
            <a:off x="784529" y="4027563"/>
            <a:ext cx="3085965" cy="527705"/>
            <a:chOff x="7242100" y="1700322"/>
            <a:chExt cx="3085965" cy="52770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CAD99F0-B3E3-0DA5-90BF-45BABD0B6816}"/>
                </a:ext>
              </a:extLst>
            </p:cNvPr>
            <p:cNvGrpSpPr/>
            <p:nvPr/>
          </p:nvGrpSpPr>
          <p:grpSpPr>
            <a:xfrm>
              <a:off x="7242100" y="1700322"/>
              <a:ext cx="527705" cy="527705"/>
              <a:chOff x="4484695" y="4252021"/>
              <a:chExt cx="580476" cy="580476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D697A849-7092-366F-C8CB-03ECD6517328}"/>
                  </a:ext>
                </a:extLst>
              </p:cNvPr>
              <p:cNvSpPr/>
              <p:nvPr/>
            </p:nvSpPr>
            <p:spPr>
              <a:xfrm>
                <a:off x="4484695" y="4252021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CFA3065-AD36-D935-B592-693466A222F9}"/>
                  </a:ext>
                </a:extLst>
              </p:cNvPr>
              <p:cNvSpPr/>
              <p:nvPr/>
            </p:nvSpPr>
            <p:spPr>
              <a:xfrm>
                <a:off x="4515783" y="4283110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005070"/>
                  </a:gs>
                  <a:gs pos="99000">
                    <a:srgbClr val="00498E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082F492-FC88-A8BB-A8BB-AEC841DB3F66}"/>
                  </a:ext>
                </a:extLst>
              </p:cNvPr>
              <p:cNvSpPr/>
              <p:nvPr/>
            </p:nvSpPr>
            <p:spPr>
              <a:xfrm>
                <a:off x="4549789" y="4341707"/>
                <a:ext cx="475389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ko-KR" altLang="en-US" sz="2000" b="1" spc="-70" dirty="0" err="1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Ⅳ</a:t>
                </a:r>
                <a:endParaRPr lang="ko-KR" altLang="en-US" sz="2000" b="1" spc="-70" dirty="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9C8DCC0-4AB1-268A-432E-FB27E3A20C79}"/>
                </a:ext>
              </a:extLst>
            </p:cNvPr>
            <p:cNvSpPr/>
            <p:nvPr/>
          </p:nvSpPr>
          <p:spPr>
            <a:xfrm>
              <a:off x="7841487" y="1748732"/>
              <a:ext cx="2486578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프로젝트 향후 계획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139295B-EAE7-93CE-3398-A2B9262D2E47}"/>
              </a:ext>
            </a:extLst>
          </p:cNvPr>
          <p:cNvGrpSpPr/>
          <p:nvPr/>
        </p:nvGrpSpPr>
        <p:grpSpPr>
          <a:xfrm>
            <a:off x="788664" y="4780583"/>
            <a:ext cx="1851012" cy="527705"/>
            <a:chOff x="7242100" y="1700322"/>
            <a:chExt cx="1851012" cy="52770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37C66F0C-AB2B-7D8C-D925-BFB95CE5A5D1}"/>
                </a:ext>
              </a:extLst>
            </p:cNvPr>
            <p:cNvGrpSpPr/>
            <p:nvPr/>
          </p:nvGrpSpPr>
          <p:grpSpPr>
            <a:xfrm>
              <a:off x="7242100" y="1700322"/>
              <a:ext cx="527705" cy="527705"/>
              <a:chOff x="4484695" y="4252021"/>
              <a:chExt cx="580476" cy="580476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0DBD525A-5873-B424-E815-2E6AA277B1C6}"/>
                  </a:ext>
                </a:extLst>
              </p:cNvPr>
              <p:cNvSpPr/>
              <p:nvPr/>
            </p:nvSpPr>
            <p:spPr>
              <a:xfrm>
                <a:off x="4484695" y="4252021"/>
                <a:ext cx="580476" cy="580476"/>
              </a:xfrm>
              <a:prstGeom prst="ellipse">
                <a:avLst/>
              </a:prstGeom>
              <a:solidFill>
                <a:schemeClr val="bg1"/>
              </a:solidFill>
              <a:ln w="15875">
                <a:gradFill>
                  <a:gsLst>
                    <a:gs pos="0">
                      <a:srgbClr val="EAEAEA">
                        <a:alpha val="80000"/>
                      </a:srgbClr>
                    </a:gs>
                    <a:gs pos="100000">
                      <a:schemeClr val="bg1">
                        <a:lumMod val="85000"/>
                        <a:alpha val="8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C9536CF6-5F82-5F4E-BBFC-3B023D50094F}"/>
                  </a:ext>
                </a:extLst>
              </p:cNvPr>
              <p:cNvSpPr/>
              <p:nvPr/>
            </p:nvSpPr>
            <p:spPr>
              <a:xfrm>
                <a:off x="4515783" y="4283110"/>
                <a:ext cx="518305" cy="518305"/>
              </a:xfrm>
              <a:prstGeom prst="ellipse">
                <a:avLst/>
              </a:prstGeom>
              <a:gradFill>
                <a:gsLst>
                  <a:gs pos="0">
                    <a:srgbClr val="005070"/>
                  </a:gs>
                  <a:gs pos="99000">
                    <a:srgbClr val="00498E"/>
                  </a:gs>
                </a:gsLst>
                <a:lin ang="3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862ADAE-102E-757B-DCEC-849D577C573B}"/>
                  </a:ext>
                </a:extLst>
              </p:cNvPr>
              <p:cNvSpPr/>
              <p:nvPr/>
            </p:nvSpPr>
            <p:spPr>
              <a:xfrm>
                <a:off x="4543153" y="4354360"/>
                <a:ext cx="450701" cy="4401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 fontAlgn="ctr"/>
                <a:r>
                  <a:rPr lang="en-US" altLang="ko-KR" sz="2000" b="1" spc="-70">
                    <a:ln w="3175"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25400" dist="25400" dir="2700000" algn="tl">
                        <a:srgbClr val="000000">
                          <a:alpha val="20000"/>
                        </a:srgbClr>
                      </a:outerShdw>
                    </a:effectLst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Ⅴ</a:t>
                </a:r>
                <a:endParaRPr lang="ko-KR" altLang="en-US" sz="2000" b="1" spc="-70">
                  <a:ln w="3175"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20000"/>
                      </a:srgbClr>
                    </a:outerShdw>
                  </a:effectLst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0" name="원형 42">
                <a:extLst>
                  <a:ext uri="{FF2B5EF4-FFF2-40B4-BE49-F238E27FC236}">
                    <a16:creationId xmlns:a16="http://schemas.microsoft.com/office/drawing/2014/main" id="{EA72A640-06C5-F697-0298-F00FB9569437}"/>
                  </a:ext>
                </a:extLst>
              </p:cNvPr>
              <p:cNvSpPr/>
              <p:nvPr/>
            </p:nvSpPr>
            <p:spPr>
              <a:xfrm rot="21118652">
                <a:off x="4514171" y="4287416"/>
                <a:ext cx="524241" cy="524241"/>
              </a:xfrm>
              <a:prstGeom prst="pie">
                <a:avLst>
                  <a:gd name="adj1" fmla="val 8778596"/>
                  <a:gd name="adj2" fmla="val 19625690"/>
                </a:avLst>
              </a:prstGeom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>
                      <a:alpha val="25000"/>
                    </a:schemeClr>
                  </a:gs>
                </a:gsLst>
                <a:lin ang="18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60AAFEE-6B88-7F1F-E4E0-6C32C39EBF08}"/>
                </a:ext>
              </a:extLst>
            </p:cNvPr>
            <p:cNvSpPr/>
            <p:nvPr/>
          </p:nvSpPr>
          <p:spPr>
            <a:xfrm>
              <a:off x="7841487" y="1748732"/>
              <a:ext cx="1251625" cy="4308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ko-KR" altLang="en-US" sz="2200" b="1" spc="-120" dirty="0">
                  <a:ln w="3175">
                    <a:solidFill>
                      <a:srgbClr val="102557">
                        <a:alpha val="10000"/>
                      </a:srgb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기대효과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90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AA232-9D71-5248-80ED-BF37EB07F537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816654-703F-044E-AAD9-3A55F8EC7AD5}"/>
              </a:ext>
            </a:extLst>
          </p:cNvPr>
          <p:cNvSpPr/>
          <p:nvPr/>
        </p:nvSpPr>
        <p:spPr>
          <a:xfrm>
            <a:off x="272607" y="204446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Malayalam MN" pitchFamily="2" charset="0"/>
              </a:rPr>
              <a:t>Ⅰ.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Malayalam MN" pitchFamily="2" charset="0"/>
              </a:rPr>
              <a:t>연구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81640D-BC6C-1A4D-9995-95823E18B75F}"/>
              </a:ext>
            </a:extLst>
          </p:cNvPr>
          <p:cNvSpPr/>
          <p:nvPr/>
        </p:nvSpPr>
        <p:spPr>
          <a:xfrm>
            <a:off x="379252" y="1381747"/>
            <a:ext cx="633194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웨어러블 기기의 잠재적인 블루투스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보안 위협 및 </a:t>
            </a:r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AI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기반 대응 방안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22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E4759-5338-7072-1212-E9A48EA1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51586EC-C890-A8BF-A28E-84DBD1F1EE4D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33641" algn="l"/>
              </a:tabLst>
              <a:defRPr/>
            </a:pPr>
            <a:r>
              <a:rPr kumimoji="0" lang="en-US" altLang="ko-KR" sz="2400" b="0" i="0" u="none" strike="noStrike" kern="1200" cap="none" spc="-70" normalizeH="0" baseline="0" noProof="0">
                <a:ln w="3175"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Ⅰ</a:t>
            </a:r>
            <a:r>
              <a:rPr kumimoji="1" lang="en-US" altLang="ko-KR" sz="24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24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목표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C7D7C99-3C6F-5B62-8342-1403E4CA4BC8}"/>
              </a:ext>
            </a:extLst>
          </p:cNvPr>
          <p:cNvGrpSpPr/>
          <p:nvPr/>
        </p:nvGrpSpPr>
        <p:grpSpPr>
          <a:xfrm>
            <a:off x="426707" y="835131"/>
            <a:ext cx="1273913" cy="400110"/>
            <a:chOff x="426707" y="780267"/>
            <a:chExt cx="1273913" cy="4001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FC6E9966-2947-82BD-EB9F-D19C530344AF}"/>
                </a:ext>
              </a:extLst>
            </p:cNvPr>
            <p:cNvSpPr/>
            <p:nvPr/>
          </p:nvSpPr>
          <p:spPr>
            <a:xfrm>
              <a:off x="528504" y="780267"/>
              <a:ext cx="11721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Calibri" panose="020F0502020204030204"/>
                  <a:ea typeface="나눔스퀘어 ExtraBold" panose="020B0600000101010101" pitchFamily="50" charset="-127"/>
                </a:rPr>
                <a:t>변경사항 </a:t>
              </a:r>
              <a:endParaRPr kumimoji="0" lang="ko-Kore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BA60EB05-DA5A-2CCA-73AB-48486CFA88E4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ore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A176FE6-4EC5-3541-30BF-3B3F40853C58}"/>
              </a:ext>
            </a:extLst>
          </p:cNvPr>
          <p:cNvSpPr txBox="1"/>
          <p:nvPr/>
        </p:nvSpPr>
        <p:spPr>
          <a:xfrm>
            <a:off x="709057" y="4223398"/>
            <a:ext cx="8825130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현재 사용하는 장비가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AR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의 일종으로 알았으나 증강가상현실 수업을 통해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	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AR</a:t>
            </a:r>
            <a:r>
              <a:rPr lang="ko-KR" altLang="en-US" sz="1600" b="1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1600" b="1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600" b="1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가지 기본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정의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에 충족하지 못함을 알게 되었다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. </a:t>
            </a:r>
            <a:endParaRPr lang="en-US" altLang="ko-KR" sz="1600" b="1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이전 발표에서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LSTM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모델보다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Transformer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모델을 사용하는 것이 더 좋을 것 같다는 피드백을 </a:t>
            </a:r>
            <a:r>
              <a:rPr lang="ko-KR" altLang="en-US" sz="1600" b="1" dirty="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반영하여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Transformer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모델 사용하였다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2DB54-3355-0BDA-8F5B-87F2108569B3}"/>
              </a:ext>
            </a:extLst>
          </p:cNvPr>
          <p:cNvSpPr txBox="1"/>
          <p:nvPr/>
        </p:nvSpPr>
        <p:spPr>
          <a:xfrm>
            <a:off x="594756" y="1486521"/>
            <a:ext cx="69762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00FF"/>
                </a:solidFill>
                <a:latin typeface="나눔스퀘어OTF Bold"/>
              </a:rPr>
              <a:t>기존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C1FBF-E8D8-9FCF-932B-6CFE89190671}"/>
              </a:ext>
            </a:extLst>
          </p:cNvPr>
          <p:cNvSpPr txBox="1"/>
          <p:nvPr/>
        </p:nvSpPr>
        <p:spPr>
          <a:xfrm>
            <a:off x="594756" y="2932572"/>
            <a:ext cx="69762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00FF"/>
                </a:solidFill>
                <a:latin typeface="나눔스퀘어OTF Bold"/>
              </a:rPr>
              <a:t>변경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C0598-A995-5C1F-29A9-300AC68B458C}"/>
              </a:ext>
            </a:extLst>
          </p:cNvPr>
          <p:cNvSpPr txBox="1"/>
          <p:nvPr/>
        </p:nvSpPr>
        <p:spPr>
          <a:xfrm>
            <a:off x="1114562" y="1883851"/>
            <a:ext cx="8970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나눔스퀘어OTF Bold"/>
              </a:rPr>
              <a:t>무선 네트워크 프로토콜 취약점 및 </a:t>
            </a:r>
            <a:r>
              <a:rPr lang="en-US" altLang="ko-KR" sz="2000" b="1" dirty="0">
                <a:latin typeface="나눔스퀘어OTF Bold"/>
              </a:rPr>
              <a:t>AR</a:t>
            </a:r>
            <a:r>
              <a:rPr lang="ko-KR" altLang="en-US" sz="2000" b="1" dirty="0">
                <a:latin typeface="나눔스퀘어OTF Bold"/>
              </a:rPr>
              <a:t>기기에서 악용 사례 분석 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0D332F80-228E-4E3D-4FCF-C5A4247DF032}"/>
              </a:ext>
            </a:extLst>
          </p:cNvPr>
          <p:cNvSpPr/>
          <p:nvPr/>
        </p:nvSpPr>
        <p:spPr>
          <a:xfrm>
            <a:off x="4680317" y="2386487"/>
            <a:ext cx="654008" cy="85881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0000FF"/>
                </a:solidFill>
              </a:ln>
              <a:solidFill>
                <a:srgbClr val="0000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22425-1DED-FF5F-35C7-EE91398C467F}"/>
              </a:ext>
            </a:extLst>
          </p:cNvPr>
          <p:cNvSpPr txBox="1"/>
          <p:nvPr/>
        </p:nvSpPr>
        <p:spPr>
          <a:xfrm>
            <a:off x="1225127" y="3357587"/>
            <a:ext cx="8970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나눔스퀘어OTF Bold"/>
              </a:rPr>
              <a:t>웨어러블 기기의 잠재적인 블루투스 보안 위협 및 </a:t>
            </a:r>
            <a:r>
              <a:rPr lang="en-US" altLang="ko-KR" sz="2000" b="1" dirty="0">
                <a:latin typeface="나눔스퀘어OTF Bold"/>
              </a:rPr>
              <a:t>AI</a:t>
            </a:r>
            <a:r>
              <a:rPr lang="ko-KR" altLang="en-US" sz="2000" b="1" dirty="0">
                <a:latin typeface="나눔스퀘어OTF Bold"/>
              </a:rPr>
              <a:t>기반 대응</a:t>
            </a:r>
          </a:p>
        </p:txBody>
      </p:sp>
    </p:spTree>
    <p:extLst>
      <p:ext uri="{BB962C8B-B14F-4D97-AF65-F5344CB8AC3E}">
        <p14:creationId xmlns:p14="http://schemas.microsoft.com/office/powerpoint/2010/main" val="270512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29C2-441D-8E2F-86EA-F6F36002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6C9B60-20AA-8996-BE3F-5AA66918D97F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33641" algn="l"/>
              </a:tabLst>
              <a:defRPr/>
            </a:pPr>
            <a:r>
              <a:rPr kumimoji="0" lang="en-US" altLang="ko-KR" sz="2400" b="0" i="0" u="none" strike="noStrike" kern="1200" cap="none" spc="-70" normalizeH="0" baseline="0" noProof="0">
                <a:ln w="3175"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Ⅰ</a:t>
            </a:r>
            <a:r>
              <a:rPr kumimoji="1" lang="en-US" altLang="ko-KR" sz="24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24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목표</a:t>
            </a:r>
          </a:p>
        </p:txBody>
      </p:sp>
      <p:sp>
        <p:nvSpPr>
          <p:cNvPr id="111" name="슬라이드 번호 개체 틀 1">
            <a:extLst>
              <a:ext uri="{FF2B5EF4-FFF2-40B4-BE49-F238E27FC236}">
                <a16:creationId xmlns:a16="http://schemas.microsoft.com/office/drawing/2014/main" id="{FCF9CA01-D8A4-EE0B-2CFA-91935C15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3927E6-8B9F-0640-88B8-E9C1DF982289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94087-C348-8FF0-C80B-5DE5FBF27A9C}"/>
              </a:ext>
            </a:extLst>
          </p:cNvPr>
          <p:cNvGrpSpPr/>
          <p:nvPr/>
        </p:nvGrpSpPr>
        <p:grpSpPr>
          <a:xfrm>
            <a:off x="426707" y="835131"/>
            <a:ext cx="1312385" cy="400110"/>
            <a:chOff x="426707" y="780267"/>
            <a:chExt cx="1312385" cy="4001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362E1347-865E-827B-EEA9-3D5923A412BB}"/>
                </a:ext>
              </a:extLst>
            </p:cNvPr>
            <p:cNvSpPr/>
            <p:nvPr/>
          </p:nvSpPr>
          <p:spPr>
            <a:xfrm>
              <a:off x="528504" y="780267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Calibri" panose="020F0502020204030204"/>
                  <a:ea typeface="나눔스퀘어 ExtraBold" panose="020B0600000101010101" pitchFamily="50" charset="-127"/>
                </a:rPr>
                <a:t>연구 배경</a:t>
              </a:r>
              <a:endParaRPr kumimoji="0" lang="ko-Kore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6B5875D0-3352-F476-B329-D9DA1E599529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ore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8C27494-5919-5CE2-F895-FF0C0B9EEE6A}"/>
              </a:ext>
            </a:extLst>
          </p:cNvPr>
          <p:cNvSpPr txBox="1"/>
          <p:nvPr/>
        </p:nvSpPr>
        <p:spPr>
          <a:xfrm>
            <a:off x="540435" y="1349722"/>
            <a:ext cx="8825130" cy="1768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무선 네트워크 프로토콜 </a:t>
            </a:r>
            <a:r>
              <a:rPr lang="en-US" altLang="ko-KR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-&gt; 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불안전한 암호화 방식 및 </a:t>
            </a:r>
            <a:r>
              <a:rPr lang="ko-KR" altLang="en-US" sz="16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페어링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방식에서 문제 존재</a:t>
            </a:r>
            <a:endParaRPr lang="en-US" altLang="ko-KR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무선 네트워크 프로토콜 장비를 공격하여 취약점 확인 및 분석 </a:t>
            </a:r>
            <a:endParaRPr lang="en-US" altLang="ko-KR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취약점 기반 새로운 보안 솔루션 구축하여 무선 프로토콜 보안 극대화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DBDC9E-6C37-C72C-819D-EE5E23B5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98" y="3513374"/>
            <a:ext cx="2606769" cy="26067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EC0A6A-9A63-AD96-E044-224415356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82" y="3533371"/>
            <a:ext cx="342674" cy="3426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821730-7953-01EF-D721-4132D7A7EC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870" r="1074"/>
          <a:stretch/>
        </p:blipFill>
        <p:spPr>
          <a:xfrm>
            <a:off x="2697849" y="4027584"/>
            <a:ext cx="2597970" cy="1726633"/>
          </a:xfrm>
          <a:prstGeom prst="rect">
            <a:avLst/>
          </a:prstGeom>
        </p:spPr>
      </p:pic>
      <p:pic>
        <p:nvPicPr>
          <p:cNvPr id="9" name="그림 8" descr="그래픽, 원, 디자인, 예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1CF23B5-BC5A-A4BC-1C96-9D37F2143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849" y="3513374"/>
            <a:ext cx="456205" cy="456205"/>
          </a:xfrm>
          <a:prstGeom prst="rect">
            <a:avLst/>
          </a:prstGeom>
        </p:spPr>
      </p:pic>
      <p:pic>
        <p:nvPicPr>
          <p:cNvPr id="10" name="그림 9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B3DF80-FF4D-21F8-FAB2-5962F1BCEA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5670" y="3463527"/>
            <a:ext cx="2054196" cy="205419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93F1E4-E901-047F-0C4F-76A84E5E33EA}"/>
              </a:ext>
            </a:extLst>
          </p:cNvPr>
          <p:cNvSpPr/>
          <p:nvPr/>
        </p:nvSpPr>
        <p:spPr>
          <a:xfrm>
            <a:off x="426707" y="3142930"/>
            <a:ext cx="5134062" cy="3078759"/>
          </a:xfrm>
          <a:prstGeom prst="rect">
            <a:avLst/>
          </a:prstGeom>
          <a:noFill/>
          <a:ln>
            <a:solidFill>
              <a:srgbClr val="23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2697039-D8C9-D757-7F6D-E1590B11C63D}"/>
              </a:ext>
            </a:extLst>
          </p:cNvPr>
          <p:cNvSpPr/>
          <p:nvPr/>
        </p:nvSpPr>
        <p:spPr>
          <a:xfrm rot="10800000">
            <a:off x="5694232" y="4249847"/>
            <a:ext cx="1678559" cy="75935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759CBE-7074-858C-FEBA-EB7346236D31}"/>
              </a:ext>
            </a:extLst>
          </p:cNvPr>
          <p:cNvSpPr txBox="1"/>
          <p:nvPr/>
        </p:nvSpPr>
        <p:spPr>
          <a:xfrm>
            <a:off x="6196130" y="4424471"/>
            <a:ext cx="107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Attack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5" name="그림 14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E7A56D-C554-1C5F-92FC-20D3AA1BEE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0645" y="3685435"/>
            <a:ext cx="649476" cy="6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56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9FFC8-7828-627C-D8A8-47CB9F7B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슬라이드 번호 개체 틀 1">
            <a:extLst>
              <a:ext uri="{FF2B5EF4-FFF2-40B4-BE49-F238E27FC236}">
                <a16:creationId xmlns:a16="http://schemas.microsoft.com/office/drawing/2014/main" id="{ADC93F41-0AFB-0093-0F8F-B52BF5DF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6</a:t>
            </a:fld>
            <a:endParaRPr kumimoji="1" lang="ko-Kore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9266372-4B4A-D454-C786-D89BCD71C440}"/>
              </a:ext>
            </a:extLst>
          </p:cNvPr>
          <p:cNvSpPr/>
          <p:nvPr/>
        </p:nvSpPr>
        <p:spPr>
          <a:xfrm>
            <a:off x="5824727" y="4315968"/>
            <a:ext cx="3785213" cy="13098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ctr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7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연구 목표 </a:t>
            </a:r>
            <a:endParaRPr lang="en-US" altLang="ko-KR" sz="1700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KoPubWorld돋움체_Pro Bold" panose="00000800000000000000" pitchFamily="50" charset="-127"/>
            </a:endParaRPr>
          </a:p>
          <a:p>
            <a:pPr lvl="0" algn="ctr">
              <a:spcBef>
                <a:spcPts val="600"/>
              </a:spcBef>
            </a:pPr>
            <a:r>
              <a:rPr lang="ko-KR" altLang="en-US" sz="17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기존 방식보다 강화된 </a:t>
            </a:r>
            <a:r>
              <a:rPr lang="en-US" altLang="ko-KR" sz="17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7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기반</a:t>
            </a:r>
            <a:endParaRPr lang="en-US" altLang="ko-KR" sz="1700" dirty="0">
              <a:solidFill>
                <a:srgbClr val="0000F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KoPubWorld돋움체_Pro Bold" panose="00000800000000000000" pitchFamily="50" charset="-127"/>
            </a:endParaRPr>
          </a:p>
          <a:p>
            <a:pPr lvl="0" algn="ctr">
              <a:spcBef>
                <a:spcPts val="600"/>
              </a:spcBef>
            </a:pPr>
            <a:r>
              <a:rPr lang="ko-KR" altLang="en-US" sz="17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KoPubWorld돋움체_Pro Bold" panose="00000800000000000000" pitchFamily="50" charset="-127"/>
              </a:rPr>
              <a:t>보안 솔루션 구축 </a:t>
            </a:r>
            <a:endParaRPr lang="en-US" altLang="ko-KR" sz="1700" dirty="0">
              <a:solidFill>
                <a:srgbClr val="0000F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DC2B2F4-A18C-39E0-ABD7-84AC2FC4BA50}"/>
              </a:ext>
            </a:extLst>
          </p:cNvPr>
          <p:cNvGrpSpPr/>
          <p:nvPr/>
        </p:nvGrpSpPr>
        <p:grpSpPr>
          <a:xfrm>
            <a:off x="426707" y="835131"/>
            <a:ext cx="1190557" cy="400110"/>
            <a:chOff x="426707" y="780267"/>
            <a:chExt cx="1190557" cy="40011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1CF4F9E-3BF1-FAEC-8136-2136B4F66D4B}"/>
                </a:ext>
              </a:extLst>
            </p:cNvPr>
            <p:cNvSpPr/>
            <p:nvPr/>
          </p:nvSpPr>
          <p:spPr>
            <a:xfrm>
              <a:off x="528504" y="780267"/>
              <a:ext cx="10887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b="1" spc="-15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연구 목표</a:t>
              </a:r>
              <a:endParaRPr lang="ko-Kore-KR" altLang="en-US" sz="2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624E7BF-511A-34D4-845D-EFBEC94EAB0A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F0B70D5-E96B-F22C-001A-11A245908861}"/>
              </a:ext>
            </a:extLst>
          </p:cNvPr>
          <p:cNvGrpSpPr/>
          <p:nvPr/>
        </p:nvGrpSpPr>
        <p:grpSpPr>
          <a:xfrm>
            <a:off x="598538" y="1551345"/>
            <a:ext cx="4022268" cy="1910714"/>
            <a:chOff x="711042" y="1478114"/>
            <a:chExt cx="4022268" cy="1910714"/>
          </a:xfrm>
        </p:grpSpPr>
        <p:sp>
          <p:nvSpPr>
            <p:cNvPr id="5" name="AutoShape 61">
              <a:extLst>
                <a:ext uri="{FF2B5EF4-FFF2-40B4-BE49-F238E27FC236}">
                  <a16:creationId xmlns:a16="http://schemas.microsoft.com/office/drawing/2014/main" id="{55A6BB0B-E588-AC5B-05BA-48776AC22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489" y="1596433"/>
              <a:ext cx="3924193" cy="1792395"/>
            </a:xfrm>
            <a:prstGeom prst="roundRect">
              <a:avLst>
                <a:gd name="adj" fmla="val 3844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ko-KR" sz="554">
                <a:latin typeface="KoPubDotum Medium" panose="02020603020101020101" pitchFamily="18" charset="-127"/>
                <a:ea typeface="KoPubDotum Medium" panose="02020603020101020101" pitchFamily="18" charset="-127"/>
              </a:endParaRPr>
            </a:p>
          </p:txBody>
        </p:sp>
        <p:sp>
          <p:nvSpPr>
            <p:cNvPr id="6" name="모서리가 둥근 직사각형 250">
              <a:extLst>
                <a:ext uri="{FF2B5EF4-FFF2-40B4-BE49-F238E27FC236}">
                  <a16:creationId xmlns:a16="http://schemas.microsoft.com/office/drawing/2014/main" id="{5A460B46-EE33-BF16-46E4-5AF7B12968A1}"/>
                </a:ext>
              </a:extLst>
            </p:cNvPr>
            <p:cNvSpPr/>
            <p:nvPr/>
          </p:nvSpPr>
          <p:spPr>
            <a:xfrm>
              <a:off x="711042" y="1478114"/>
              <a:ext cx="4022268" cy="461664"/>
            </a:xfrm>
            <a:prstGeom prst="roundRect">
              <a:avLst>
                <a:gd name="adj" fmla="val 50000"/>
              </a:avLst>
            </a:prstGeom>
            <a:solidFill>
              <a:srgbClr val="003260"/>
            </a:solidFill>
            <a:ln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6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무선 네트워크 프로토콜 취약점 분석</a:t>
              </a:r>
              <a:endParaRPr lang="ko-KR" altLang="en-US" sz="1600" b="1" dirty="0"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14" name="모서리가 둥근 직사각형 129">
              <a:extLst>
                <a:ext uri="{FF2B5EF4-FFF2-40B4-BE49-F238E27FC236}">
                  <a16:creationId xmlns:a16="http://schemas.microsoft.com/office/drawing/2014/main" id="{91844DAA-7889-43ED-69C1-BD55616711C5}"/>
                </a:ext>
              </a:extLst>
            </p:cNvPr>
            <p:cNvSpPr/>
            <p:nvPr/>
          </p:nvSpPr>
          <p:spPr>
            <a:xfrm>
              <a:off x="861200" y="1993143"/>
              <a:ext cx="3757926" cy="1344578"/>
            </a:xfrm>
            <a:prstGeom prst="roundRect">
              <a:avLst>
                <a:gd name="adj" fmla="val 4005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defRPr/>
              </a:pPr>
              <a:r>
                <a:rPr lang="ko-KR" altLang="en-US" sz="16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대표적인 무선 네트워크 프로토콜의 취약점 분석</a:t>
              </a:r>
              <a:endPara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2D3C54B-E980-E5A5-2767-0CED3CDD153F}"/>
              </a:ext>
            </a:extLst>
          </p:cNvPr>
          <p:cNvGrpSpPr/>
          <p:nvPr/>
        </p:nvGrpSpPr>
        <p:grpSpPr>
          <a:xfrm>
            <a:off x="5265466" y="1551345"/>
            <a:ext cx="4022269" cy="1910793"/>
            <a:chOff x="5172689" y="1478114"/>
            <a:chExt cx="4022269" cy="1910793"/>
          </a:xfrm>
        </p:grpSpPr>
        <p:sp>
          <p:nvSpPr>
            <p:cNvPr id="10" name="AutoShape 61">
              <a:extLst>
                <a:ext uri="{FF2B5EF4-FFF2-40B4-BE49-F238E27FC236}">
                  <a16:creationId xmlns:a16="http://schemas.microsoft.com/office/drawing/2014/main" id="{06CC5F60-2093-40D4-F268-C8D44BCFB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727" y="1596512"/>
              <a:ext cx="3924193" cy="1792395"/>
            </a:xfrm>
            <a:prstGeom prst="roundRect">
              <a:avLst>
                <a:gd name="adj" fmla="val 3844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ko-KR" sz="554">
                <a:latin typeface="KoPubDotum Medium" panose="02020603020101020101" pitchFamily="18" charset="-127"/>
                <a:ea typeface="KoPubDotum Medium" panose="02020603020101020101" pitchFamily="18" charset="-127"/>
              </a:endParaRPr>
            </a:p>
          </p:txBody>
        </p:sp>
        <p:sp>
          <p:nvSpPr>
            <p:cNvPr id="11" name="모서리가 둥근 직사각형 129">
              <a:extLst>
                <a:ext uri="{FF2B5EF4-FFF2-40B4-BE49-F238E27FC236}">
                  <a16:creationId xmlns:a16="http://schemas.microsoft.com/office/drawing/2014/main" id="{45C06102-1846-A3A1-8A7C-035CF16A99B4}"/>
                </a:ext>
              </a:extLst>
            </p:cNvPr>
            <p:cNvSpPr/>
            <p:nvPr/>
          </p:nvSpPr>
          <p:spPr>
            <a:xfrm>
              <a:off x="5306438" y="1993222"/>
              <a:ext cx="3757926" cy="1344578"/>
            </a:xfrm>
            <a:prstGeom prst="roundRect">
              <a:avLst>
                <a:gd name="adj" fmla="val 4005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defRPr/>
              </a:pPr>
              <a:r>
                <a:rPr lang="ko-KR" altLang="en-US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대부분의 장비는 </a:t>
              </a:r>
              <a:r>
                <a:rPr lang="en-US" altLang="ko-KR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BLE </a:t>
              </a:r>
              <a:r>
                <a:rPr lang="ko-KR" altLang="en-US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또는 </a:t>
              </a:r>
              <a:r>
                <a:rPr lang="en-US" altLang="ko-KR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WLAN</a:t>
              </a:r>
              <a:r>
                <a:rPr lang="ko-KR" altLang="en-US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을 사용</a:t>
              </a:r>
              <a:endParaRPr lang="en-US" altLang="ko-KR" sz="14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lvl="0" algn="ctr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defRPr/>
              </a:pPr>
              <a:r>
                <a:rPr lang="en-US" altLang="ko-KR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=&gt;</a:t>
              </a:r>
              <a:r>
                <a:rPr lang="ko-KR" altLang="en-US" sz="14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취약점 분석 결과를 바탕으로 공격 실행 </a:t>
              </a:r>
              <a:endParaRPr lang="en-US" altLang="ko-KR" sz="14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" name="모서리가 둥근 직사각형 250">
              <a:extLst>
                <a:ext uri="{FF2B5EF4-FFF2-40B4-BE49-F238E27FC236}">
                  <a16:creationId xmlns:a16="http://schemas.microsoft.com/office/drawing/2014/main" id="{A93111FC-422F-C529-95E0-5ACD91D43DFC}"/>
                </a:ext>
              </a:extLst>
            </p:cNvPr>
            <p:cNvSpPr/>
            <p:nvPr/>
          </p:nvSpPr>
          <p:spPr>
            <a:xfrm>
              <a:off x="5172689" y="1478114"/>
              <a:ext cx="4022269" cy="461663"/>
            </a:xfrm>
            <a:prstGeom prst="roundRect">
              <a:avLst>
                <a:gd name="adj" fmla="val 50000"/>
              </a:avLst>
            </a:prstGeom>
            <a:solidFill>
              <a:srgbClr val="0060B8"/>
            </a:solidFill>
            <a:ln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AR </a:t>
              </a:r>
              <a:r>
                <a:rPr lang="ko-KR" altLang="en-US" sz="1600" b="1" dirty="0"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기기의 공격 가능성 분석</a:t>
              </a:r>
              <a:r>
                <a:rPr lang="ko-KR" altLang="en-US" sz="16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</a:p>
          </p:txBody>
        </p:sp>
      </p:grpSp>
      <p:sp>
        <p:nvSpPr>
          <p:cNvPr id="17" name="AutoShape 61">
            <a:extLst>
              <a:ext uri="{FF2B5EF4-FFF2-40B4-BE49-F238E27FC236}">
                <a16:creationId xmlns:a16="http://schemas.microsoft.com/office/drawing/2014/main" id="{61AD10A6-0EA7-6463-EE58-FFD82D53C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704" y="4143785"/>
            <a:ext cx="3567448" cy="1792395"/>
          </a:xfrm>
          <a:prstGeom prst="roundRect">
            <a:avLst>
              <a:gd name="adj" fmla="val 384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554"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12" name="모서리가 둥근 직사각형 250">
            <a:extLst>
              <a:ext uri="{FF2B5EF4-FFF2-40B4-BE49-F238E27FC236}">
                <a16:creationId xmlns:a16="http://schemas.microsoft.com/office/drawing/2014/main" id="{CEB6CFE8-CB24-DA5F-9D35-FF02C1B13A02}"/>
              </a:ext>
            </a:extLst>
          </p:cNvPr>
          <p:cNvSpPr/>
          <p:nvPr/>
        </p:nvSpPr>
        <p:spPr>
          <a:xfrm>
            <a:off x="1155125" y="4059999"/>
            <a:ext cx="3656608" cy="3816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innerShdw blurRad="1143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취약점 분석 및  솔루션 개발</a:t>
            </a:r>
          </a:p>
        </p:txBody>
      </p:sp>
      <p:sp>
        <p:nvSpPr>
          <p:cNvPr id="16" name="모서리가 둥근 직사각형 129">
            <a:extLst>
              <a:ext uri="{FF2B5EF4-FFF2-40B4-BE49-F238E27FC236}">
                <a16:creationId xmlns:a16="http://schemas.microsoft.com/office/drawing/2014/main" id="{D489A405-2934-DD4D-2CC4-531386657293}"/>
              </a:ext>
            </a:extLst>
          </p:cNvPr>
          <p:cNvSpPr/>
          <p:nvPr/>
        </p:nvSpPr>
        <p:spPr>
          <a:xfrm>
            <a:off x="1275281" y="4531202"/>
            <a:ext cx="3416296" cy="1344578"/>
          </a:xfrm>
          <a:prstGeom prst="roundRect">
            <a:avLst>
              <a:gd name="adj" fmla="val 4005"/>
            </a:avLst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831614">
              <a:lnSpc>
                <a:spcPct val="120000"/>
              </a:lnSpc>
              <a:spcAft>
                <a:spcPts val="400"/>
              </a:spcAft>
              <a:buClr>
                <a:srgbClr val="2D65A9"/>
              </a:buClr>
              <a:buSzPct val="100000"/>
              <a:defRPr/>
            </a:pPr>
            <a:r>
              <a:rPr lang="ko-KR" altLang="en-US" sz="16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공격 성공 후 취약점 분석하여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보안 솔루션 개발 </a:t>
            </a:r>
            <a:endParaRPr lang="en-US" altLang="ko-KR" sz="16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더하기 기호 19">
            <a:extLst>
              <a:ext uri="{FF2B5EF4-FFF2-40B4-BE49-F238E27FC236}">
                <a16:creationId xmlns:a16="http://schemas.microsoft.com/office/drawing/2014/main" id="{BA6D3519-A6DE-7F15-FA78-30AEA5A57E5A}"/>
              </a:ext>
            </a:extLst>
          </p:cNvPr>
          <p:cNvSpPr/>
          <p:nvPr/>
        </p:nvSpPr>
        <p:spPr>
          <a:xfrm>
            <a:off x="4671013" y="2413873"/>
            <a:ext cx="563974" cy="512207"/>
          </a:xfrm>
          <a:prstGeom prst="mathPlus">
            <a:avLst>
              <a:gd name="adj1" fmla="val 1533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05641C21-6AC3-35C3-BCB7-A333B6B6B733}"/>
              </a:ext>
            </a:extLst>
          </p:cNvPr>
          <p:cNvSpPr/>
          <p:nvPr/>
        </p:nvSpPr>
        <p:spPr>
          <a:xfrm rot="16200000">
            <a:off x="526964" y="4858942"/>
            <a:ext cx="400110" cy="539714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9D0F75C1-8B5A-85A9-619B-8FAA02F9413F}"/>
              </a:ext>
            </a:extLst>
          </p:cNvPr>
          <p:cNvSpPr/>
          <p:nvPr/>
        </p:nvSpPr>
        <p:spPr>
          <a:xfrm rot="16200000">
            <a:off x="5110302" y="4858942"/>
            <a:ext cx="400110" cy="539714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CAD60A-94C7-84EE-A0CF-69F2AF953915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lang="en-US" altLang="ko-KR" sz="2400" spc="-70">
                <a:ln w="3175"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Ⅰ</a:t>
            </a: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목표</a:t>
            </a:r>
          </a:p>
        </p:txBody>
      </p:sp>
    </p:spTree>
    <p:extLst>
      <p:ext uri="{BB962C8B-B14F-4D97-AF65-F5344CB8AC3E}">
        <p14:creationId xmlns:p14="http://schemas.microsoft.com/office/powerpoint/2010/main" val="272886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AA232-9D71-5248-80ED-BF37EB07F537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816654-703F-044E-AAD9-3A55F8EC7AD5}"/>
              </a:ext>
            </a:extLst>
          </p:cNvPr>
          <p:cNvSpPr/>
          <p:nvPr/>
        </p:nvSpPr>
        <p:spPr>
          <a:xfrm>
            <a:off x="272607" y="204446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연구 내용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EEE6F3-14F6-C55B-B6FF-33A287205E4A}"/>
              </a:ext>
            </a:extLst>
          </p:cNvPr>
          <p:cNvSpPr/>
          <p:nvPr/>
        </p:nvSpPr>
        <p:spPr>
          <a:xfrm>
            <a:off x="379252" y="1381747"/>
            <a:ext cx="633194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웨어러블 기기의 잠재적인 블루투스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보안 위협 및 </a:t>
            </a:r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AI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기반 대응 방안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52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CEAF2F5-36A8-28CE-330B-878E47CC6BA4}"/>
              </a:ext>
            </a:extLst>
          </p:cNvPr>
          <p:cNvGrpSpPr/>
          <p:nvPr/>
        </p:nvGrpSpPr>
        <p:grpSpPr>
          <a:xfrm>
            <a:off x="426707" y="835131"/>
            <a:ext cx="1924732" cy="400110"/>
            <a:chOff x="426707" y="780267"/>
            <a:chExt cx="1924732" cy="40011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6DBEF40-C2EC-0128-8E25-703A27302D03}"/>
                </a:ext>
              </a:extLst>
            </p:cNvPr>
            <p:cNvSpPr/>
            <p:nvPr/>
          </p:nvSpPr>
          <p:spPr>
            <a:xfrm>
              <a:off x="528504" y="780267"/>
              <a:ext cx="182293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연구 단계 세분화</a:t>
              </a:r>
              <a:endParaRPr lang="ko-Kore-KR" altLang="en-US" sz="2000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33DAE3D-ED45-C5FF-2B63-78BEE8034BB1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067428-4685-95F9-5F47-0A28CC9A170A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E4D7C-01A2-0AE8-5749-362D5C7A402A}"/>
              </a:ext>
            </a:extLst>
          </p:cNvPr>
          <p:cNvSpPr txBox="1"/>
          <p:nvPr/>
        </p:nvSpPr>
        <p:spPr>
          <a:xfrm>
            <a:off x="517236" y="1262747"/>
            <a:ext cx="8871528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프로젝트는 크게 두 단계로 나누어 진행</a:t>
            </a:r>
            <a:endParaRPr lang="en-US" altLang="ko-KR" sz="16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744C8D4-99A6-4DE9-4606-C23E6CD2FDDB}"/>
              </a:ext>
            </a:extLst>
          </p:cNvPr>
          <p:cNvGrpSpPr/>
          <p:nvPr/>
        </p:nvGrpSpPr>
        <p:grpSpPr>
          <a:xfrm>
            <a:off x="1106817" y="2393554"/>
            <a:ext cx="7823985" cy="2690280"/>
            <a:chOff x="1018228" y="2084194"/>
            <a:chExt cx="7823985" cy="2690280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6E0E838-1861-10EA-F74A-5A0CBB6C5F10}"/>
                </a:ext>
              </a:extLst>
            </p:cNvPr>
            <p:cNvGrpSpPr/>
            <p:nvPr/>
          </p:nvGrpSpPr>
          <p:grpSpPr>
            <a:xfrm>
              <a:off x="1018228" y="2084194"/>
              <a:ext cx="3736933" cy="2690280"/>
              <a:chOff x="5172689" y="1478114"/>
              <a:chExt cx="4022269" cy="1910793"/>
            </a:xfrm>
          </p:grpSpPr>
          <p:sp>
            <p:nvSpPr>
              <p:cNvPr id="32" name="AutoShape 61">
                <a:extLst>
                  <a:ext uri="{FF2B5EF4-FFF2-40B4-BE49-F238E27FC236}">
                    <a16:creationId xmlns:a16="http://schemas.microsoft.com/office/drawing/2014/main" id="{8D2BD57D-B331-624B-E5C3-212CF28A8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1727" y="1596512"/>
                <a:ext cx="3924193" cy="1792395"/>
              </a:xfrm>
              <a:prstGeom prst="roundRect">
                <a:avLst>
                  <a:gd name="adj" fmla="val 3844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ko-KR" sz="554">
                  <a:latin typeface="KoPubDotum Medium" panose="02020603020101020101" pitchFamily="18" charset="-127"/>
                  <a:ea typeface="KoPubDotum Medium" panose="02020603020101020101" pitchFamily="18" charset="-127"/>
                </a:endParaRPr>
              </a:p>
            </p:txBody>
          </p:sp>
          <p:sp>
            <p:nvSpPr>
              <p:cNvPr id="33" name="모서리가 둥근 직사각형 129">
                <a:extLst>
                  <a:ext uri="{FF2B5EF4-FFF2-40B4-BE49-F238E27FC236}">
                    <a16:creationId xmlns:a16="http://schemas.microsoft.com/office/drawing/2014/main" id="{0020597B-FBBA-C0A1-6368-971ADD99C5A4}"/>
                  </a:ext>
                </a:extLst>
              </p:cNvPr>
              <p:cNvSpPr/>
              <p:nvPr/>
            </p:nvSpPr>
            <p:spPr>
              <a:xfrm>
                <a:off x="5306438" y="1993222"/>
                <a:ext cx="3757926" cy="1344578"/>
              </a:xfrm>
              <a:prstGeom prst="roundRect">
                <a:avLst>
                  <a:gd name="adj" fmla="val 4005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무서 웨어러블 기기 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공격 구현 및 취약점 분석  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</p:txBody>
          </p:sp>
          <p:sp>
            <p:nvSpPr>
              <p:cNvPr id="34" name="모서리가 둥근 직사각형 250">
                <a:extLst>
                  <a:ext uri="{FF2B5EF4-FFF2-40B4-BE49-F238E27FC236}">
                    <a16:creationId xmlns:a16="http://schemas.microsoft.com/office/drawing/2014/main" id="{72D6FB0C-E155-9CA6-7BA1-39A8FE034FF1}"/>
                  </a:ext>
                </a:extLst>
              </p:cNvPr>
              <p:cNvSpPr/>
              <p:nvPr/>
            </p:nvSpPr>
            <p:spPr>
              <a:xfrm>
                <a:off x="5172689" y="1478114"/>
                <a:ext cx="4022269" cy="461663"/>
              </a:xfrm>
              <a:prstGeom prst="roundRect">
                <a:avLst>
                  <a:gd name="adj" fmla="val 50000"/>
                </a:avLst>
              </a:prstGeom>
              <a:solidFill>
                <a:srgbClr val="003260"/>
              </a:solidFill>
              <a:ln>
                <a:noFill/>
              </a:ln>
              <a:effectLst>
                <a:innerShdw blurRad="114300">
                  <a:prstClr val="black">
                    <a:alpha val="2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1</a:t>
                </a:r>
                <a:r>
                  <a:rPr lang="ko-KR" altLang="en-US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단계</a:t>
                </a:r>
                <a:r>
                  <a:rPr lang="en-US" altLang="ko-KR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: </a:t>
                </a:r>
                <a:r>
                  <a:rPr lang="ko-KR" altLang="en-US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공격 구현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44B070E7-DEB5-6916-A5A3-4D90B6128251}"/>
                </a:ext>
              </a:extLst>
            </p:cNvPr>
            <p:cNvGrpSpPr/>
            <p:nvPr/>
          </p:nvGrpSpPr>
          <p:grpSpPr>
            <a:xfrm>
              <a:off x="5105280" y="2084194"/>
              <a:ext cx="3736933" cy="2690280"/>
              <a:chOff x="5172689" y="1478114"/>
              <a:chExt cx="4022269" cy="1910793"/>
            </a:xfrm>
          </p:grpSpPr>
          <p:sp>
            <p:nvSpPr>
              <p:cNvPr id="29" name="AutoShape 61">
                <a:extLst>
                  <a:ext uri="{FF2B5EF4-FFF2-40B4-BE49-F238E27FC236}">
                    <a16:creationId xmlns:a16="http://schemas.microsoft.com/office/drawing/2014/main" id="{1CCB2FE5-EBD4-07A8-DE78-959325F2E4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1727" y="1596512"/>
                <a:ext cx="3924193" cy="1792395"/>
              </a:xfrm>
              <a:prstGeom prst="roundRect">
                <a:avLst>
                  <a:gd name="adj" fmla="val 3844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ko-KR" sz="554">
                  <a:latin typeface="KoPubDotum Medium" panose="02020603020101020101" pitchFamily="18" charset="-127"/>
                  <a:ea typeface="KoPubDotum Medium" panose="02020603020101020101" pitchFamily="18" charset="-127"/>
                </a:endParaRPr>
              </a:p>
            </p:txBody>
          </p:sp>
          <p:sp>
            <p:nvSpPr>
              <p:cNvPr id="30" name="모서리가 둥근 직사각형 129">
                <a:extLst>
                  <a:ext uri="{FF2B5EF4-FFF2-40B4-BE49-F238E27FC236}">
                    <a16:creationId xmlns:a16="http://schemas.microsoft.com/office/drawing/2014/main" id="{A1B386BF-34F6-D070-1FF9-6C526F4E1D3A}"/>
                  </a:ext>
                </a:extLst>
              </p:cNvPr>
              <p:cNvSpPr/>
              <p:nvPr/>
            </p:nvSpPr>
            <p:spPr>
              <a:xfrm>
                <a:off x="5306438" y="1993222"/>
                <a:ext cx="3757926" cy="1344578"/>
              </a:xfrm>
              <a:prstGeom prst="roundRect">
                <a:avLst>
                  <a:gd name="adj" fmla="val 4005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무선 웨어러블 기기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 취약점 기반 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AI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 활용 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  <a:p>
                <a:pPr lvl="0"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ko-KR" altLang="en-US" sz="20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KoPubWorld돋움체_Pro Bold" panose="00000800000000000000" pitchFamily="50" charset="-127"/>
                  </a:rPr>
                  <a:t>보안 솔루션 구축</a:t>
                </a:r>
                <a:endParaRPr lang="en-US" altLang="ko-KR" sz="20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KoPubWorld돋움체_Pro Bold" panose="00000800000000000000" pitchFamily="50" charset="-127"/>
                </a:endParaRPr>
              </a:p>
            </p:txBody>
          </p:sp>
          <p:sp>
            <p:nvSpPr>
              <p:cNvPr id="31" name="모서리가 둥근 직사각형 250">
                <a:extLst>
                  <a:ext uri="{FF2B5EF4-FFF2-40B4-BE49-F238E27FC236}">
                    <a16:creationId xmlns:a16="http://schemas.microsoft.com/office/drawing/2014/main" id="{040C731F-7226-F3E3-D623-10783BCF5960}"/>
                  </a:ext>
                </a:extLst>
              </p:cNvPr>
              <p:cNvSpPr/>
              <p:nvPr/>
            </p:nvSpPr>
            <p:spPr>
              <a:xfrm>
                <a:off x="5172689" y="1478114"/>
                <a:ext cx="4022269" cy="461663"/>
              </a:xfrm>
              <a:prstGeom prst="roundRect">
                <a:avLst>
                  <a:gd name="adj" fmla="val 50000"/>
                </a:avLst>
              </a:prstGeom>
              <a:solidFill>
                <a:srgbClr val="0060B8"/>
              </a:solidFill>
              <a:ln>
                <a:noFill/>
              </a:ln>
              <a:effectLst>
                <a:innerShdw blurRad="114300">
                  <a:prstClr val="black">
                    <a:alpha val="2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2</a:t>
                </a:r>
                <a:r>
                  <a:rPr lang="ko-KR" altLang="en-US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단계</a:t>
                </a:r>
                <a:r>
                  <a:rPr lang="en-US" altLang="ko-KR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: </a:t>
                </a:r>
                <a:r>
                  <a:rPr lang="ko-KR" altLang="en-US" dirty="0"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 보안 시스템 구현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78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E2C7E-BBFD-60A4-E5D5-0C77F0CF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9DEEA6E8-DFE8-2568-432C-4A1702BD9F1C}"/>
              </a:ext>
            </a:extLst>
          </p:cNvPr>
          <p:cNvSpPr/>
          <p:nvPr/>
        </p:nvSpPr>
        <p:spPr>
          <a:xfrm>
            <a:off x="426707" y="949612"/>
            <a:ext cx="101797" cy="101797"/>
          </a:xfrm>
          <a:prstGeom prst="ellipse">
            <a:avLst/>
          </a:prstGeom>
          <a:gradFill>
            <a:gsLst>
              <a:gs pos="0">
                <a:srgbClr val="1A93CA"/>
              </a:gs>
              <a:gs pos="76000">
                <a:srgbClr val="0049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EBA1B-DD64-DB49-C55A-2880456F6294}"/>
              </a:ext>
            </a:extLst>
          </p:cNvPr>
          <p:cNvSpPr txBox="1"/>
          <p:nvPr/>
        </p:nvSpPr>
        <p:spPr>
          <a:xfrm>
            <a:off x="477605" y="1728568"/>
            <a:ext cx="8871528" cy="106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진행상황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 PC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 </a:t>
            </a:r>
            <a:r>
              <a:rPr lang="ko-KR" altLang="en-US" sz="14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동글을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연결해 공격자가 수트와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PC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사이의 </a:t>
            </a:r>
            <a:r>
              <a:rPr lang="en-US" altLang="ko-KR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Bluetooth </a:t>
            </a:r>
            <a:r>
              <a:rPr lang="ko-KR" altLang="en-US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통신을 가로채는 구조</a:t>
            </a:r>
            <a:r>
              <a:rPr lang="ko-KR" altLang="en-US" sz="1400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마련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AR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기기의 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진동센서 반응 조작</a:t>
            </a: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통해 실험 결과 확인 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9F4A82-7A3C-788A-9CD9-A609A4588872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6" name="그림 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F23B68-6631-AA18-4254-AED5F0B7E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073" y="2794950"/>
            <a:ext cx="1683491" cy="1683491"/>
          </a:xfrm>
          <a:prstGeom prst="rect">
            <a:avLst/>
          </a:prstGeom>
        </p:spPr>
      </p:pic>
      <p:pic>
        <p:nvPicPr>
          <p:cNvPr id="7" name="그림 6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BF8FA8-D043-4CD4-A3C4-D03B5CF9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073" y="4772082"/>
            <a:ext cx="1683491" cy="1683491"/>
          </a:xfrm>
          <a:prstGeom prst="rect">
            <a:avLst/>
          </a:prstGeom>
        </p:spPr>
      </p:pic>
      <p:pic>
        <p:nvPicPr>
          <p:cNvPr id="12" name="그림 11" descr="의류, 보호복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CCA8A4-6046-1C56-5EB7-C8FA08065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97" y="3349112"/>
            <a:ext cx="2649136" cy="2649136"/>
          </a:xfrm>
          <a:prstGeom prst="rect">
            <a:avLst/>
          </a:prstGeom>
        </p:spPr>
      </p:pic>
      <p:sp>
        <p:nvSpPr>
          <p:cNvPr id="16" name="화살표: 왼쪽/오른쪽 15">
            <a:extLst>
              <a:ext uri="{FF2B5EF4-FFF2-40B4-BE49-F238E27FC236}">
                <a16:creationId xmlns:a16="http://schemas.microsoft.com/office/drawing/2014/main" id="{7AE265D7-6D93-1EFD-B6E4-ACAEB8369316}"/>
              </a:ext>
            </a:extLst>
          </p:cNvPr>
          <p:cNvSpPr/>
          <p:nvPr/>
        </p:nvSpPr>
        <p:spPr>
          <a:xfrm rot="20691915">
            <a:off x="3661935" y="3548533"/>
            <a:ext cx="2502870" cy="723637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DATA = 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88597474-7420-306C-6F70-26275F8851E8}"/>
              </a:ext>
            </a:extLst>
          </p:cNvPr>
          <p:cNvSpPr/>
          <p:nvPr/>
        </p:nvSpPr>
        <p:spPr>
          <a:xfrm rot="6168405">
            <a:off x="4763547" y="4163635"/>
            <a:ext cx="731942" cy="245198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ADE57-6EAB-35A4-1E65-BA001C006E2B}"/>
              </a:ext>
            </a:extLst>
          </p:cNvPr>
          <p:cNvSpPr txBox="1"/>
          <p:nvPr/>
        </p:nvSpPr>
        <p:spPr>
          <a:xfrm>
            <a:off x="7366222" y="3103873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/>
              <a:t>A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354B1-5954-381C-7095-01B99FAFA305}"/>
              </a:ext>
            </a:extLst>
          </p:cNvPr>
          <p:cNvSpPr txBox="1"/>
          <p:nvPr/>
        </p:nvSpPr>
        <p:spPr>
          <a:xfrm>
            <a:off x="7366222" y="507336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/>
              <a:t>B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E3FADF-128F-FDF6-751D-B6EB5E84C274}"/>
              </a:ext>
            </a:extLst>
          </p:cNvPr>
          <p:cNvSpPr txBox="1"/>
          <p:nvPr/>
        </p:nvSpPr>
        <p:spPr>
          <a:xfrm rot="802929">
            <a:off x="4793661" y="4947283"/>
            <a:ext cx="1338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DATA = 100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43926C-CD57-05A5-1AC8-824B850E7763}"/>
              </a:ext>
            </a:extLst>
          </p:cNvPr>
          <p:cNvSpPr txBox="1"/>
          <p:nvPr/>
        </p:nvSpPr>
        <p:spPr>
          <a:xfrm rot="824726">
            <a:off x="4850450" y="5243204"/>
            <a:ext cx="903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ATTACK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23" name="그림 22" descr="상징, 그래픽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4484E5-073B-A411-07E7-8FC1A0240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3060705" y="3379624"/>
            <a:ext cx="409553" cy="40955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11ABF52-A17C-3C07-DC64-73A608E2DC3F}"/>
              </a:ext>
            </a:extLst>
          </p:cNvPr>
          <p:cNvSpPr/>
          <p:nvPr/>
        </p:nvSpPr>
        <p:spPr>
          <a:xfrm>
            <a:off x="528504" y="835131"/>
            <a:ext cx="2861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단계</a:t>
            </a:r>
            <a:r>
              <a:rPr kumimoji="1" lang="en-US" altLang="ko-KR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</a:t>
            </a:r>
            <a:r>
              <a:rPr kumimoji="1" lang="ko-KR" altLang="en-US" sz="20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공격 구현 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kumimoji="1" lang="ko-KR" altLang="en-US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 완료</a:t>
            </a:r>
            <a:r>
              <a:rPr kumimoji="1" lang="en-US" altLang="ko-KR" sz="1600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ore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DF282-9EC0-16D0-B9FA-A14EE6253F49}"/>
              </a:ext>
            </a:extLst>
          </p:cNvPr>
          <p:cNvSpPr txBox="1"/>
          <p:nvPr/>
        </p:nvSpPr>
        <p:spPr>
          <a:xfrm>
            <a:off x="477605" y="1235241"/>
            <a:ext cx="887152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무선 웨어러블 기기 공격 구현 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1130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DC6B-FD6A-6C1D-00B5-E509C939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3534A3B-6C6F-9206-BDA3-BF41FE1FBC35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2045418-444C-F118-C1E3-AA7888C488BE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A881FC8-19BC-5392-36B9-83376B0825D4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073B0F4-304B-0928-E6DA-93E5C51B6143}"/>
              </a:ext>
            </a:extLst>
          </p:cNvPr>
          <p:cNvSpPr txBox="1"/>
          <p:nvPr/>
        </p:nvSpPr>
        <p:spPr>
          <a:xfrm>
            <a:off x="528504" y="2171714"/>
            <a:ext cx="8701906" cy="106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패킷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패키지와 버킷의 합성어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통신망을 통해 전송하기 쉽도록 데이터를 나눈 전송 단위 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4EAB9-FB69-65C7-E2E7-F865EA2666ED}"/>
              </a:ext>
            </a:extLst>
          </p:cNvPr>
          <p:cNvSpPr txBox="1"/>
          <p:nvPr/>
        </p:nvSpPr>
        <p:spPr>
          <a:xfrm>
            <a:off x="477605" y="1235241"/>
            <a:ext cx="8871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무선 웨어러블 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963ABF-583E-B7E6-8F1D-0B515D4E0A55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4C5575-8517-1EF8-D7F0-450C101FA878}"/>
              </a:ext>
            </a:extLst>
          </p:cNvPr>
          <p:cNvSpPr txBox="1"/>
          <p:nvPr/>
        </p:nvSpPr>
        <p:spPr>
          <a:xfrm>
            <a:off x="477605" y="1677349"/>
            <a:ext cx="8871528" cy="4261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개요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8DBC8-0569-B5DF-3DAF-C58725D9E3C4}"/>
              </a:ext>
            </a:extLst>
          </p:cNvPr>
          <p:cNvSpPr txBox="1"/>
          <p:nvPr/>
        </p:nvSpPr>
        <p:spPr>
          <a:xfrm>
            <a:off x="477605" y="3668152"/>
            <a:ext cx="8871528" cy="236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b="1" dirty="0">
                <a:solidFill>
                  <a:srgbClr val="0000FF"/>
                </a:solidFill>
                <a:highlight>
                  <a:srgbClr val="FFFF00"/>
                </a:highlight>
                <a:latin typeface="+mn-ea"/>
              </a:rPr>
              <a:t>Jitter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디지털 신호나 데이터 패킷이 이상적인 시간 위치에서 벗어나 빠르거나 느리게 도착하는 현상</a:t>
            </a:r>
            <a:endParaRPr lang="en-US" altLang="ko-KR" sz="14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latin typeface="+mn-ea"/>
              </a:rPr>
              <a:t>지터</a:t>
            </a:r>
            <a:r>
              <a:rPr lang="en-US" altLang="ko-KR" sz="1400" b="1" dirty="0">
                <a:latin typeface="+mn-ea"/>
              </a:rPr>
              <a:t>(jitter)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이 지연이 얼마나 들쭉날쭉 변하는지</a:t>
            </a:r>
            <a:br>
              <a:rPr lang="en-US" altLang="ko-KR" sz="1400" dirty="0">
                <a:latin typeface="+mn-ea"/>
              </a:rPr>
            </a:b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) “</a:t>
            </a:r>
            <a:r>
              <a:rPr lang="ko-KR" altLang="en-US" sz="1400" dirty="0">
                <a:latin typeface="+mn-ea"/>
              </a:rPr>
              <a:t>어떤 패킷은 </a:t>
            </a:r>
            <a:r>
              <a:rPr lang="en-US" altLang="ko-KR" sz="1400" dirty="0">
                <a:latin typeface="+mn-ea"/>
              </a:rPr>
              <a:t>20ms </a:t>
            </a:r>
            <a:r>
              <a:rPr lang="ko-KR" altLang="en-US" sz="1400" dirty="0">
                <a:latin typeface="+mn-ea"/>
              </a:rPr>
              <a:t>걸리는데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어떤 건 </a:t>
            </a:r>
            <a:r>
              <a:rPr lang="en-US" altLang="ko-KR" sz="1400" dirty="0">
                <a:latin typeface="+mn-ea"/>
              </a:rPr>
              <a:t>50ms </a:t>
            </a:r>
            <a:r>
              <a:rPr lang="ko-KR" altLang="en-US" sz="1400" dirty="0">
                <a:latin typeface="+mn-ea"/>
              </a:rPr>
              <a:t>걸린다</a:t>
            </a:r>
            <a:r>
              <a:rPr lang="en-US" altLang="ko-KR" sz="1400" dirty="0">
                <a:latin typeface="+mn-ea"/>
              </a:rPr>
              <a:t>” → </a:t>
            </a:r>
            <a:r>
              <a:rPr lang="ko-KR" altLang="en-US" sz="1400" dirty="0" err="1">
                <a:latin typeface="+mn-ea"/>
              </a:rPr>
              <a:t>지터가</a:t>
            </a:r>
            <a:r>
              <a:rPr lang="ko-KR" altLang="en-US" sz="1400" dirty="0">
                <a:latin typeface="+mn-ea"/>
              </a:rPr>
              <a:t> 크다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</a:rPr>
              <a:t>지연</a:t>
            </a:r>
            <a:r>
              <a:rPr lang="en-US" altLang="ko-KR" sz="1400" b="1" dirty="0">
                <a:latin typeface="+mn-ea"/>
              </a:rPr>
              <a:t>(latency)</a:t>
            </a:r>
            <a:r>
              <a:rPr lang="en-US" altLang="ko-KR" sz="1400" dirty="0">
                <a:latin typeface="+mn-ea"/>
              </a:rPr>
              <a:t>: A</a:t>
            </a:r>
            <a:r>
              <a:rPr lang="ko-KR" altLang="en-US" sz="1400" dirty="0">
                <a:latin typeface="+mn-ea"/>
              </a:rPr>
              <a:t>에서 </a:t>
            </a:r>
            <a:r>
              <a:rPr lang="en-US" altLang="ko-KR" sz="1400" dirty="0">
                <a:latin typeface="+mn-ea"/>
              </a:rPr>
              <a:t>B</a:t>
            </a:r>
            <a:r>
              <a:rPr lang="ko-KR" altLang="en-US" sz="1400" dirty="0">
                <a:latin typeface="+mn-ea"/>
              </a:rPr>
              <a:t>로 패킷이 가는 데 걸리는 시간</a:t>
            </a:r>
            <a:br>
              <a:rPr lang="en-US" altLang="ko-KR" sz="1400" dirty="0">
                <a:latin typeface="+mn-ea"/>
              </a:rPr>
            </a:br>
            <a:r>
              <a:rPr lang="ko-KR" altLang="en-US" sz="1400" dirty="0">
                <a:latin typeface="+mn-ea"/>
              </a:rPr>
              <a:t>예</a:t>
            </a:r>
            <a:r>
              <a:rPr lang="en-US" altLang="ko-KR" sz="1400" dirty="0">
                <a:latin typeface="+mn-ea"/>
              </a:rPr>
              <a:t>) “</a:t>
            </a:r>
            <a:r>
              <a:rPr lang="ko-KR" altLang="en-US" sz="1400" dirty="0">
                <a:latin typeface="+mn-ea"/>
              </a:rPr>
              <a:t>평균적으로 </a:t>
            </a:r>
            <a:r>
              <a:rPr lang="en-US" altLang="ko-KR" sz="1400" dirty="0">
                <a:latin typeface="+mn-ea"/>
              </a:rPr>
              <a:t>20ms </a:t>
            </a:r>
            <a:r>
              <a:rPr lang="ko-KR" altLang="en-US" sz="1400" dirty="0">
                <a:latin typeface="+mn-ea"/>
              </a:rPr>
              <a:t>걸린다</a:t>
            </a:r>
            <a:r>
              <a:rPr lang="en-US" altLang="ko-KR" sz="1400" dirty="0">
                <a:latin typeface="+mn-ea"/>
              </a:rPr>
              <a:t>”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807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E4D68-A273-4769-6D1B-1B6724C0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D95D778-6CF9-6E22-49EE-B2D7A3A3EAFE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32A06F8-16FC-AF3A-6E74-1F68E0CC86E0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38C837A-DFE7-1170-3773-FA66C8363D02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5511DBF-A1D6-1720-0856-648B33D6066B}"/>
              </a:ext>
            </a:extLst>
          </p:cNvPr>
          <p:cNvSpPr txBox="1"/>
          <p:nvPr/>
        </p:nvSpPr>
        <p:spPr>
          <a:xfrm>
            <a:off x="528504" y="2171714"/>
            <a:ext cx="8701906" cy="1712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Transformer Model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기존 순차적 데이터 처리 방식의 장기 의존성 문제를 극복한 모델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n-ea"/>
              </a:rPr>
              <a:t>어텐션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매커니즘을</a:t>
            </a:r>
            <a:r>
              <a:rPr lang="ko-KR" altLang="en-US" sz="1400" dirty="0">
                <a:latin typeface="+mn-ea"/>
              </a:rPr>
              <a:t> 사용하여 문장 내 단어들의 관계를 효과적으로 학습하는 구조 제시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병렬 처리 방식으로 속도가 빠르며 문맥 파악 능력이 훨씬 뛰어나다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B586084-90F5-4125-258D-63FBC256F2B6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194798-9719-BD17-2878-2068ECAEC209}"/>
              </a:ext>
            </a:extLst>
          </p:cNvPr>
          <p:cNvSpPr txBox="1"/>
          <p:nvPr/>
        </p:nvSpPr>
        <p:spPr>
          <a:xfrm>
            <a:off x="477605" y="1677349"/>
            <a:ext cx="8871528" cy="4261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개요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/>
            </a:endParaRPr>
          </a:p>
        </p:txBody>
      </p:sp>
      <p:pic>
        <p:nvPicPr>
          <p:cNvPr id="5" name="Picture 2" descr="16-01 트랜스포머(Transformer) - 딥 러닝을 이용한 자연어 처리 입문">
            <a:extLst>
              <a:ext uri="{FF2B5EF4-FFF2-40B4-BE49-F238E27FC236}">
                <a16:creationId xmlns:a16="http://schemas.microsoft.com/office/drawing/2014/main" id="{F8B50001-25BA-DD1F-8DF2-98774FCDD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739" y="4020036"/>
            <a:ext cx="4968893" cy="188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25ECD7-DCC8-FA34-0EC0-24279D0FD31A}"/>
              </a:ext>
            </a:extLst>
          </p:cNvPr>
          <p:cNvSpPr txBox="1"/>
          <p:nvPr/>
        </p:nvSpPr>
        <p:spPr>
          <a:xfrm>
            <a:off x="477605" y="1235241"/>
            <a:ext cx="8871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무선 웨어러블 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7992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0F9F9-ACAF-372B-7511-F6E00013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C018606-23A1-CC6B-63CA-014B6557284C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AB98C0C-3ED0-6C29-FB18-3372767F7679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85F261D-368E-9464-8625-CDC24648F428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EBA2CB-D87E-5521-2B94-6B8055D4C9D1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6BB3DE-ADA5-9F82-6122-DAAF569B457A}"/>
              </a:ext>
            </a:extLst>
          </p:cNvPr>
          <p:cNvSpPr txBox="1"/>
          <p:nvPr/>
        </p:nvSpPr>
        <p:spPr>
          <a:xfrm>
            <a:off x="477605" y="1677349"/>
            <a:ext cx="8871528" cy="4261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&lt;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개요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E7215F-1362-07DF-78BD-5A7960B7057C}"/>
              </a:ext>
            </a:extLst>
          </p:cNvPr>
          <p:cNvSpPr txBox="1"/>
          <p:nvPr/>
        </p:nvSpPr>
        <p:spPr>
          <a:xfrm>
            <a:off x="517236" y="3858627"/>
            <a:ext cx="8871528" cy="106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b="1" dirty="0">
                <a:solidFill>
                  <a:srgbClr val="0000FF"/>
                </a:solidFill>
                <a:highlight>
                  <a:srgbClr val="FFFF00"/>
                </a:highlight>
                <a:latin typeface="+mn-ea"/>
              </a:rPr>
              <a:t>TST</a:t>
            </a:r>
            <a:r>
              <a:rPr lang="en-US" altLang="ko-KR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(Time Series Transformer)</a:t>
            </a:r>
            <a:endParaRPr lang="en-US" altLang="ko-KR" sz="1600" b="1" dirty="0">
              <a:solidFill>
                <a:srgbClr val="0000FF"/>
              </a:solidFill>
              <a:highlight>
                <a:srgbClr val="FFFF00"/>
              </a:highlight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시계열 데이터를 위한 사용하기 쉬운 트랜스포머 아키텍처 구현체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50F61-301C-5ADF-DEC9-8812890D2567}"/>
              </a:ext>
            </a:extLst>
          </p:cNvPr>
          <p:cNvSpPr txBox="1"/>
          <p:nvPr/>
        </p:nvSpPr>
        <p:spPr>
          <a:xfrm>
            <a:off x="528504" y="2286285"/>
            <a:ext cx="8701906" cy="1389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Tsai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n-ea"/>
              </a:rPr>
              <a:t>파이토치</a:t>
            </a:r>
            <a:r>
              <a:rPr lang="en-US" altLang="ko-KR" sz="1400" dirty="0">
                <a:latin typeface="+mn-ea"/>
              </a:rPr>
              <a:t>(</a:t>
            </a:r>
            <a:r>
              <a:rPr lang="en-US" altLang="ko-KR" sz="1400" dirty="0" err="1">
                <a:latin typeface="+mn-ea"/>
              </a:rPr>
              <a:t>PyTorch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와 </a:t>
            </a:r>
            <a:r>
              <a:rPr lang="en-US" altLang="ko-KR" sz="1400" dirty="0" err="1">
                <a:latin typeface="+mn-ea"/>
              </a:rPr>
              <a:t>Fastai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기반으로 구축된 오픈소스 딥러닝 라이브러리로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분류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회귀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예측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추정 등 시계열 작업을 위한 최첨단 기술에 중점을 둠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</a:rPr>
              <a:t>Transformer </a:t>
            </a:r>
            <a:r>
              <a:rPr lang="ko-KR" altLang="en-US" sz="1400" dirty="0">
                <a:latin typeface="+mn-ea"/>
              </a:rPr>
              <a:t>모델 사용 가능 라이브러리로 병렬 처리를 지원하며 빠른 학습이 가능 </a:t>
            </a:r>
            <a:endParaRPr lang="en-US" altLang="ko-KR" sz="14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64A5B6-3295-79EC-3C6B-71BC0A8F7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98" y="4806158"/>
            <a:ext cx="7258824" cy="965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6F7149-824C-463F-99D4-FF7AACE23C66}"/>
              </a:ext>
            </a:extLst>
          </p:cNvPr>
          <p:cNvSpPr txBox="1"/>
          <p:nvPr/>
        </p:nvSpPr>
        <p:spPr>
          <a:xfrm>
            <a:off x="477605" y="1235241"/>
            <a:ext cx="8871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무선 웨어러블 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4502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BC743-DB8D-4461-D7A1-6D3FBE23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AD2294C-B691-5EF2-038F-FE5C3C8D2D5B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B829F75-B349-7B1B-C072-0E6D3BFE503C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376B89A-2AF1-75DC-A5C5-66958E69BB4A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0507861-E6E8-2F9B-4098-A27C027AE9B2}"/>
              </a:ext>
            </a:extLst>
          </p:cNvPr>
          <p:cNvSpPr txBox="1"/>
          <p:nvPr/>
        </p:nvSpPr>
        <p:spPr>
          <a:xfrm>
            <a:off x="477605" y="1728568"/>
            <a:ext cx="8871528" cy="747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진행상황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 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무선 웨어러블 기기와 컴퓨터의 정상 연결 상황과 공격 상황일때의 </a:t>
            </a:r>
            <a:r>
              <a:rPr lang="ko-KR" altLang="en-US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실시간 </a:t>
            </a:r>
            <a:r>
              <a:rPr lang="ko-KR" altLang="en-US" sz="1400" b="1" dirty="0" err="1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지터</a:t>
            </a:r>
            <a:r>
              <a:rPr lang="ko-KR" altLang="en-US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값 데이터 수집</a:t>
            </a:r>
            <a:endParaRPr lang="en-US" altLang="ko-KR" sz="1400" b="1" dirty="0">
              <a:solidFill>
                <a:srgbClr val="0000FF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104F22-CBB1-70C9-DAC8-67053F24803E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C33D2F-AF8D-8AD6-14C0-0F83C68A4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45" y="2668157"/>
            <a:ext cx="4427482" cy="27659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4EFDB94-D79E-63C0-2DC3-E85E95364C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9" t="1406" r="5353" b="9967"/>
          <a:stretch>
            <a:fillRect/>
          </a:stretch>
        </p:blipFill>
        <p:spPr>
          <a:xfrm>
            <a:off x="5674341" y="2598290"/>
            <a:ext cx="3270484" cy="29057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E864C4-E142-4C1F-86C1-80B828A1C63A}"/>
              </a:ext>
            </a:extLst>
          </p:cNvPr>
          <p:cNvSpPr txBox="1"/>
          <p:nvPr/>
        </p:nvSpPr>
        <p:spPr>
          <a:xfrm>
            <a:off x="477605" y="1235241"/>
            <a:ext cx="8871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무선 웨어러블 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1674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55E0-D829-000A-9ACB-CB24A0C5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5BB59FDE-7530-5558-6D6E-907CAC3D8FD3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949DA41-3F53-DE64-9C0B-5DC674A35066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1F75D36A-8A82-DD43-E0B1-D6BE76CAE36F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07F8421-861C-2EC4-5EA8-F3335CCBF190}"/>
              </a:ext>
            </a:extLst>
          </p:cNvPr>
          <p:cNvSpPr txBox="1"/>
          <p:nvPr/>
        </p:nvSpPr>
        <p:spPr>
          <a:xfrm>
            <a:off x="477605" y="1728568"/>
            <a:ext cx="8871528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진행상황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정상 연결 상황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=&gt; 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컴퓨터와 수트가 연결된 상황에서 데이터 수집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공격 상황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=&gt; 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공격자가 공격을 시도로 인해 광고 패킷이 비정상적으로 증가하는 환경에서 데이터 수집 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각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200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개씩 수집한 데이터 분석 결과 공격 상황의 경우 정상 연결 상황 대비 </a:t>
            </a:r>
            <a:r>
              <a:rPr lang="ko-KR" altLang="en-US" sz="14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지터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값이 </a:t>
            </a:r>
            <a:r>
              <a:rPr lang="ko-KR" altLang="en-US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매우 불안전함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F7601F-518B-024B-DB58-5F7ABC6CBB3F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4521F4-52B7-0D3B-DAB4-6A04B9A82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" b="51193"/>
          <a:stretch>
            <a:fillRect/>
          </a:stretch>
        </p:blipFill>
        <p:spPr bwMode="auto">
          <a:xfrm>
            <a:off x="1128506" y="3230183"/>
            <a:ext cx="4669350" cy="162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93CD7A-E1F0-5EDA-9069-397AE23EB4A7}"/>
              </a:ext>
            </a:extLst>
          </p:cNvPr>
          <p:cNvSpPr txBox="1"/>
          <p:nvPr/>
        </p:nvSpPr>
        <p:spPr>
          <a:xfrm>
            <a:off x="5888474" y="3313331"/>
            <a:ext cx="21825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=&gt; </a:t>
            </a:r>
            <a:r>
              <a:rPr lang="ko-KR" altLang="en-US" sz="1100" b="1" dirty="0" err="1"/>
              <a:t>지터</a:t>
            </a:r>
            <a:r>
              <a:rPr lang="ko-KR" altLang="en-US" sz="1100" b="1" dirty="0"/>
              <a:t> 값 데이터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16D20-4314-7051-49D7-F939F6E6EE52}"/>
              </a:ext>
            </a:extLst>
          </p:cNvPr>
          <p:cNvSpPr txBox="1"/>
          <p:nvPr/>
        </p:nvSpPr>
        <p:spPr>
          <a:xfrm>
            <a:off x="5888474" y="4966455"/>
            <a:ext cx="21825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=&gt; </a:t>
            </a:r>
            <a:r>
              <a:rPr lang="ko-KR" altLang="en-US" sz="1100" b="1" dirty="0" err="1"/>
              <a:t>지터</a:t>
            </a:r>
            <a:r>
              <a:rPr lang="ko-KR" altLang="en-US" sz="1100" b="1" dirty="0"/>
              <a:t> 값의 표준편차 데이터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A77FB2-E30D-2C4F-D7A7-48414747C333}"/>
              </a:ext>
            </a:extLst>
          </p:cNvPr>
          <p:cNvSpPr/>
          <p:nvPr/>
        </p:nvSpPr>
        <p:spPr>
          <a:xfrm>
            <a:off x="4327082" y="3313331"/>
            <a:ext cx="961948" cy="141333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1881C0A-F645-AB1D-49AA-6F61597BF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506" y="4966455"/>
            <a:ext cx="4669350" cy="176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47A562-E7EA-039C-5FE7-5BFDDEB07FA1}"/>
              </a:ext>
            </a:extLst>
          </p:cNvPr>
          <p:cNvSpPr txBox="1"/>
          <p:nvPr/>
        </p:nvSpPr>
        <p:spPr>
          <a:xfrm>
            <a:off x="477605" y="1235241"/>
            <a:ext cx="8871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무선 웨어러블 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376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DE5A-8E2C-020E-B6C1-ECB974D4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514B92C-1B28-C58B-C3D9-B387811D5E11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39FFBD3-1209-7A2F-DBF4-3CAF283E210A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8E5BA24-D059-EBF6-A398-736D80B64BCF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45F9449-3EF7-5A5E-9FC3-7378A14EE639}"/>
              </a:ext>
            </a:extLst>
          </p:cNvPr>
          <p:cNvSpPr txBox="1"/>
          <p:nvPr/>
        </p:nvSpPr>
        <p:spPr>
          <a:xfrm>
            <a:off x="646604" y="1635351"/>
            <a:ext cx="8871528" cy="1347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실험 환경에서 측정한  정상 연결 상황 데이터와 공격 상황 데이터를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Transformer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모델로 학습 테스트 결과 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      </a:t>
            </a:r>
            <a:r>
              <a:rPr lang="ko-KR" altLang="en-US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낮은 </a:t>
            </a:r>
            <a:r>
              <a:rPr lang="en-US" altLang="ko-KR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Loss </a:t>
            </a:r>
            <a:r>
              <a:rPr lang="ko-KR" altLang="en-US" sz="1400" b="1" dirty="0">
                <a:solidFill>
                  <a:srgbClr val="0000FF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값과 높은 정확도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를 보인다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4CAE35-245E-D5EC-390C-C6ABB2D8EFE5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1C883C8-CF24-75C9-F56A-04B6076E2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576" y="2708994"/>
            <a:ext cx="5358468" cy="355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474EF0-4B7A-B0F3-68DD-091426A9F617}"/>
              </a:ext>
            </a:extLst>
          </p:cNvPr>
          <p:cNvSpPr txBox="1"/>
          <p:nvPr/>
        </p:nvSpPr>
        <p:spPr>
          <a:xfrm>
            <a:off x="477605" y="1235241"/>
            <a:ext cx="8871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무선 웨어러블 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0218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AF4F-7EAD-04B2-48F6-AE413821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AD1B18C-20CB-1190-406A-4ABA863F9EC3}"/>
              </a:ext>
            </a:extLst>
          </p:cNvPr>
          <p:cNvGrpSpPr/>
          <p:nvPr/>
        </p:nvGrpSpPr>
        <p:grpSpPr>
          <a:xfrm>
            <a:off x="426707" y="835131"/>
            <a:ext cx="3506896" cy="400110"/>
            <a:chOff x="426707" y="780267"/>
            <a:chExt cx="3506896" cy="40011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0D942B9-E026-4662-BD7F-B133EC5B74DC}"/>
                </a:ext>
              </a:extLst>
            </p:cNvPr>
            <p:cNvSpPr/>
            <p:nvPr/>
          </p:nvSpPr>
          <p:spPr>
            <a:xfrm>
              <a:off x="528504" y="780267"/>
              <a:ext cx="34050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  <a:r>
                <a:rPr kumimoji="1" lang="en-US" altLang="ko-KR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:</a:t>
              </a:r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보안 솔루션 구축 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(</a:t>
              </a:r>
              <a:r>
                <a:rPr kumimoji="1" lang="ko-KR" altLang="en-US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진행중</a:t>
              </a:r>
              <a:r>
                <a:rPr kumimoji="1" lang="en-US" altLang="ko-KR" sz="16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)</a:t>
              </a:r>
              <a:endParaRPr lang="ko-Kore-KR" altLang="en-US" sz="20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72DB61D-11F4-3DD1-D2C3-BD000052E626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EEF1926-A067-FAE2-4CF5-49962E6A3C3E}"/>
              </a:ext>
            </a:extLst>
          </p:cNvPr>
          <p:cNvSpPr txBox="1"/>
          <p:nvPr/>
        </p:nvSpPr>
        <p:spPr>
          <a:xfrm>
            <a:off x="646604" y="1635351"/>
            <a:ext cx="8871528" cy="1347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다양한 </a:t>
            </a:r>
            <a:r>
              <a:rPr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시나리오를 설계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하여 다양한 </a:t>
            </a:r>
            <a:r>
              <a:rPr lang="ko-KR" altLang="en-US" sz="14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지터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값 데이터 수집하여 </a:t>
            </a:r>
            <a:r>
              <a:rPr lang="en-US" altLang="ko-KR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Transformer </a:t>
            </a: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모델 학습 진행 예정 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무선 웨어러블 기기와 컴퓨터의 거리 별 데이터 수집 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무선 웨어러블 기기와 컴퓨터 사이의 장애물이 존재할 경우</a:t>
            </a:r>
            <a:endParaRPr lang="en-US" altLang="ko-KR" sz="1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548E3F-2CF4-C6B2-72EE-A6BA0B1321F8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Ⅱ.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연구 내용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pic>
        <p:nvPicPr>
          <p:cNvPr id="15" name="그림 1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48C2D1-7842-F0F0-8535-CC98CCD4F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073" y="2794950"/>
            <a:ext cx="1683491" cy="1683491"/>
          </a:xfrm>
          <a:prstGeom prst="rect">
            <a:avLst/>
          </a:prstGeom>
        </p:spPr>
      </p:pic>
      <p:pic>
        <p:nvPicPr>
          <p:cNvPr id="16" name="그림 1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10986B-66E7-5349-958F-00A0D13DC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073" y="4772082"/>
            <a:ext cx="1683491" cy="1683491"/>
          </a:xfrm>
          <a:prstGeom prst="rect">
            <a:avLst/>
          </a:prstGeom>
        </p:spPr>
      </p:pic>
      <p:pic>
        <p:nvPicPr>
          <p:cNvPr id="17" name="그림 16" descr="의류, 보호복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F06835-AFB8-E7CB-6E0B-40E08F95E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97" y="3349112"/>
            <a:ext cx="2649136" cy="2649136"/>
          </a:xfrm>
          <a:prstGeom prst="rect">
            <a:avLst/>
          </a:prstGeom>
        </p:spPr>
      </p:pic>
      <p:sp>
        <p:nvSpPr>
          <p:cNvPr id="18" name="화살표: 왼쪽/오른쪽 17">
            <a:extLst>
              <a:ext uri="{FF2B5EF4-FFF2-40B4-BE49-F238E27FC236}">
                <a16:creationId xmlns:a16="http://schemas.microsoft.com/office/drawing/2014/main" id="{F84E9BD2-18E4-E3CD-C88C-B665188081F4}"/>
              </a:ext>
            </a:extLst>
          </p:cNvPr>
          <p:cNvSpPr/>
          <p:nvPr/>
        </p:nvSpPr>
        <p:spPr>
          <a:xfrm rot="20691915">
            <a:off x="3661935" y="3548533"/>
            <a:ext cx="2502870" cy="723637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DATA = 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98B46A22-636E-B34F-0639-B15506C4F5BB}"/>
              </a:ext>
            </a:extLst>
          </p:cNvPr>
          <p:cNvSpPr/>
          <p:nvPr/>
        </p:nvSpPr>
        <p:spPr>
          <a:xfrm rot="6168405">
            <a:off x="4521518" y="4103757"/>
            <a:ext cx="731942" cy="245198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B8211-7EC6-03A7-AB44-9F5D8AD5CC91}"/>
              </a:ext>
            </a:extLst>
          </p:cNvPr>
          <p:cNvSpPr txBox="1"/>
          <p:nvPr/>
        </p:nvSpPr>
        <p:spPr>
          <a:xfrm>
            <a:off x="7366222" y="3103873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/>
              <a:t>A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DAEAE3-0672-6903-2BB2-1F25F69319DB}"/>
              </a:ext>
            </a:extLst>
          </p:cNvPr>
          <p:cNvSpPr txBox="1"/>
          <p:nvPr/>
        </p:nvSpPr>
        <p:spPr>
          <a:xfrm>
            <a:off x="7366222" y="507336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/>
              <a:t>B</a:t>
            </a:r>
            <a:endParaRPr lang="ko-KR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36DED-AC4D-37D3-05CC-DCA99EEC4024}"/>
              </a:ext>
            </a:extLst>
          </p:cNvPr>
          <p:cNvSpPr txBox="1"/>
          <p:nvPr/>
        </p:nvSpPr>
        <p:spPr>
          <a:xfrm rot="802929">
            <a:off x="4548104" y="4888697"/>
            <a:ext cx="1338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DATA = 100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373F19-0B97-DFEF-CA93-8491CECF0C2A}"/>
              </a:ext>
            </a:extLst>
          </p:cNvPr>
          <p:cNvSpPr txBox="1"/>
          <p:nvPr/>
        </p:nvSpPr>
        <p:spPr>
          <a:xfrm rot="824726">
            <a:off x="4566987" y="5175433"/>
            <a:ext cx="903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ATTACK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24" name="그림 23" descr="상징, 그래픽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BE205C-C390-3399-7D11-1560F5B25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3060705" y="3379624"/>
            <a:ext cx="409553" cy="409553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CA876AB-0F95-3844-1880-24B48C641F8C}"/>
              </a:ext>
            </a:extLst>
          </p:cNvPr>
          <p:cNvSpPr/>
          <p:nvPr/>
        </p:nvSpPr>
        <p:spPr>
          <a:xfrm>
            <a:off x="6125481" y="4754582"/>
            <a:ext cx="534071" cy="168349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장애물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7E28DB-8B79-908E-201A-C21E5A32AA89}"/>
              </a:ext>
            </a:extLst>
          </p:cNvPr>
          <p:cNvSpPr txBox="1"/>
          <p:nvPr/>
        </p:nvSpPr>
        <p:spPr>
          <a:xfrm>
            <a:off x="477605" y="1235241"/>
            <a:ext cx="8871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: 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무선 웨어러블 기기 취약점 기반 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AI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KoPubWorld돋움체_Pro Bold" panose="00000800000000000000" pitchFamily="50" charset="-127"/>
              </a:rPr>
              <a:t>를 활용한 보안 솔루션 구축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841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EFB8-0EBE-384A-90E9-683D527D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7FB6F61F-0E8C-C9B7-BD1D-59F48BD8F7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3108CAF-4164-A904-885E-1DB1645F834E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B55C5B-7EE2-8B8A-C177-DDD7BFE77252}"/>
              </a:ext>
            </a:extLst>
          </p:cNvPr>
          <p:cNvSpPr/>
          <p:nvPr/>
        </p:nvSpPr>
        <p:spPr>
          <a:xfrm>
            <a:off x="368848" y="2087528"/>
            <a:ext cx="5971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Ⅲ.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개발환경 및 예상 결과물 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D76744-24A3-803E-E11A-4AC9E6193047}"/>
              </a:ext>
            </a:extLst>
          </p:cNvPr>
          <p:cNvSpPr/>
          <p:nvPr/>
        </p:nvSpPr>
        <p:spPr>
          <a:xfrm>
            <a:off x="379252" y="1381747"/>
            <a:ext cx="633194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웨어러블 기기의 잠재적인 블루투스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보안 위협 및 </a:t>
            </a:r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AI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기반 대응 방안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575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17E38B2-5117-A34A-A85F-0DB6EBDB6965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Ⅲ.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개발 환경 및 예상 결과물</a:t>
            </a:r>
          </a:p>
        </p:txBody>
      </p:sp>
      <p:sp>
        <p:nvSpPr>
          <p:cNvPr id="111" name="슬라이드 번호 개체 틀 1">
            <a:extLst>
              <a:ext uri="{FF2B5EF4-FFF2-40B4-BE49-F238E27FC236}">
                <a16:creationId xmlns:a16="http://schemas.microsoft.com/office/drawing/2014/main" id="{884D878D-8550-7746-859C-C5916635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18</a:t>
            </a:fld>
            <a:endParaRPr kumimoji="1" lang="ko-Kore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DE9EAD4-6F5D-804C-5A0C-50C4D0694C65}"/>
              </a:ext>
            </a:extLst>
          </p:cNvPr>
          <p:cNvSpPr/>
          <p:nvPr/>
        </p:nvSpPr>
        <p:spPr>
          <a:xfrm>
            <a:off x="426707" y="949612"/>
            <a:ext cx="101797" cy="101797"/>
          </a:xfrm>
          <a:prstGeom prst="ellipse">
            <a:avLst/>
          </a:prstGeom>
          <a:gradFill>
            <a:gsLst>
              <a:gs pos="0">
                <a:srgbClr val="1A93CA"/>
              </a:gs>
              <a:gs pos="76000">
                <a:srgbClr val="00498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368A9C0-C8BB-2368-7AE2-4DC8D021D913}"/>
              </a:ext>
            </a:extLst>
          </p:cNvPr>
          <p:cNvGrpSpPr/>
          <p:nvPr/>
        </p:nvGrpSpPr>
        <p:grpSpPr>
          <a:xfrm>
            <a:off x="531127" y="1408714"/>
            <a:ext cx="4022268" cy="1910714"/>
            <a:chOff x="711042" y="1478114"/>
            <a:chExt cx="4022268" cy="1910714"/>
          </a:xfrm>
        </p:grpSpPr>
        <p:sp>
          <p:nvSpPr>
            <p:cNvPr id="10" name="AutoShape 61">
              <a:extLst>
                <a:ext uri="{FF2B5EF4-FFF2-40B4-BE49-F238E27FC236}">
                  <a16:creationId xmlns:a16="http://schemas.microsoft.com/office/drawing/2014/main" id="{9AB43958-EDA1-0F34-88F0-A17E5453F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489" y="1596433"/>
              <a:ext cx="3924193" cy="1792395"/>
            </a:xfrm>
            <a:prstGeom prst="roundRect">
              <a:avLst>
                <a:gd name="adj" fmla="val 3844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ko-KR" sz="554">
                <a:latin typeface="KoPubDotum Medium" panose="02020603020101020101" pitchFamily="18" charset="-127"/>
                <a:ea typeface="KoPubDotum Medium" panose="02020603020101020101" pitchFamily="18" charset="-127"/>
              </a:endParaRPr>
            </a:p>
          </p:txBody>
        </p:sp>
        <p:sp>
          <p:nvSpPr>
            <p:cNvPr id="11" name="모서리가 둥근 직사각형 250">
              <a:extLst>
                <a:ext uri="{FF2B5EF4-FFF2-40B4-BE49-F238E27FC236}">
                  <a16:creationId xmlns:a16="http://schemas.microsoft.com/office/drawing/2014/main" id="{0FF8B512-569C-1B10-1927-7B97A637230D}"/>
                </a:ext>
              </a:extLst>
            </p:cNvPr>
            <p:cNvSpPr/>
            <p:nvPr/>
          </p:nvSpPr>
          <p:spPr>
            <a:xfrm>
              <a:off x="711042" y="1478114"/>
              <a:ext cx="4022268" cy="461664"/>
            </a:xfrm>
            <a:prstGeom prst="roundRect">
              <a:avLst>
                <a:gd name="adj" fmla="val 50000"/>
              </a:avLst>
            </a:prstGeom>
            <a:solidFill>
              <a:srgbClr val="003260"/>
            </a:solidFill>
            <a:ln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개발 환경</a:t>
              </a:r>
            </a:p>
          </p:txBody>
        </p:sp>
        <p:sp>
          <p:nvSpPr>
            <p:cNvPr id="12" name="모서리가 둥근 직사각형 129">
              <a:extLst>
                <a:ext uri="{FF2B5EF4-FFF2-40B4-BE49-F238E27FC236}">
                  <a16:creationId xmlns:a16="http://schemas.microsoft.com/office/drawing/2014/main" id="{D8B03945-06B2-CBC2-BDFB-C8FA9695624B}"/>
                </a:ext>
              </a:extLst>
            </p:cNvPr>
            <p:cNvSpPr/>
            <p:nvPr/>
          </p:nvSpPr>
          <p:spPr>
            <a:xfrm>
              <a:off x="861200" y="1993143"/>
              <a:ext cx="3757926" cy="1344578"/>
            </a:xfrm>
            <a:prstGeom prst="roundRect">
              <a:avLst>
                <a:gd name="adj" fmla="val 4005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운영체제</a:t>
              </a:r>
              <a:r>
                <a:rPr lang="en-US" altLang="ko-KR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-</a:t>
              </a: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Windows,</a:t>
              </a: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macOS</a:t>
              </a:r>
            </a:p>
            <a:p>
              <a:pPr marL="285750" lvl="0" indent="-285750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ko-KR" sz="160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Kali_Linux</a:t>
              </a:r>
              <a:endParaRPr lang="en-US" altLang="ko-KR" sz="16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pic>
        <p:nvPicPr>
          <p:cNvPr id="1028" name="Picture 4" descr="Kali Linux | Brands of the World™ | Download vector logos and logotypes">
            <a:extLst>
              <a:ext uri="{FF2B5EF4-FFF2-40B4-BE49-F238E27FC236}">
                <a16:creationId xmlns:a16="http://schemas.microsoft.com/office/drawing/2014/main" id="{8864621A-B73A-5118-5E30-67B77C677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576" y="1438159"/>
            <a:ext cx="1591200" cy="15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BF2018-CD75-AFCA-8EF7-73F6A2FF0ABB}"/>
              </a:ext>
            </a:extLst>
          </p:cNvPr>
          <p:cNvSpPr/>
          <p:nvPr/>
        </p:nvSpPr>
        <p:spPr>
          <a:xfrm>
            <a:off x="6470577" y="2932641"/>
            <a:ext cx="1695600" cy="365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1600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Kali Linux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607D01C-840D-DC2D-E05F-189AB5FC9C84}"/>
              </a:ext>
            </a:extLst>
          </p:cNvPr>
          <p:cNvGrpSpPr/>
          <p:nvPr/>
        </p:nvGrpSpPr>
        <p:grpSpPr>
          <a:xfrm>
            <a:off x="528504" y="3884478"/>
            <a:ext cx="4022269" cy="1910793"/>
            <a:chOff x="5172689" y="1478114"/>
            <a:chExt cx="4022269" cy="1910793"/>
          </a:xfrm>
        </p:grpSpPr>
        <p:sp>
          <p:nvSpPr>
            <p:cNvPr id="16" name="AutoShape 61">
              <a:extLst>
                <a:ext uri="{FF2B5EF4-FFF2-40B4-BE49-F238E27FC236}">
                  <a16:creationId xmlns:a16="http://schemas.microsoft.com/office/drawing/2014/main" id="{CF0CA4FF-6A53-3066-893E-8608E17C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727" y="1596512"/>
              <a:ext cx="3924193" cy="1792395"/>
            </a:xfrm>
            <a:prstGeom prst="roundRect">
              <a:avLst>
                <a:gd name="adj" fmla="val 3844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ko-KR" sz="554">
                <a:latin typeface="KoPubDotum Medium" panose="02020603020101020101" pitchFamily="18" charset="-127"/>
                <a:ea typeface="KoPubDotum Medium" panose="02020603020101020101" pitchFamily="18" charset="-127"/>
              </a:endParaRPr>
            </a:p>
          </p:txBody>
        </p:sp>
        <p:sp>
          <p:nvSpPr>
            <p:cNvPr id="17" name="모서리가 둥근 직사각형 129">
              <a:extLst>
                <a:ext uri="{FF2B5EF4-FFF2-40B4-BE49-F238E27FC236}">
                  <a16:creationId xmlns:a16="http://schemas.microsoft.com/office/drawing/2014/main" id="{20C3B6CD-57F4-D782-0A3C-67C09814754C}"/>
                </a:ext>
              </a:extLst>
            </p:cNvPr>
            <p:cNvSpPr/>
            <p:nvPr/>
          </p:nvSpPr>
          <p:spPr>
            <a:xfrm>
              <a:off x="5306438" y="1993222"/>
              <a:ext cx="3757926" cy="1344578"/>
            </a:xfrm>
            <a:prstGeom prst="roundRect">
              <a:avLst>
                <a:gd name="adj" fmla="val 4005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블루투스 </a:t>
              </a:r>
              <a:r>
                <a:rPr lang="ko-KR" altLang="en-US" sz="160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동글</a:t>
              </a:r>
              <a:r>
                <a:rPr lang="ko-KR" altLang="en-US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endParaRPr lang="en-US" altLang="ko-KR" sz="16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marL="285750" lvl="0" indent="-285750" defTabSz="831614">
                <a:lnSpc>
                  <a:spcPct val="120000"/>
                </a:lnSpc>
                <a:spcAft>
                  <a:spcPts val="400"/>
                </a:spcAft>
                <a:buClr>
                  <a:srgbClr val="2D65A9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ko-KR" sz="1600" dirty="0" err="1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TactSuite</a:t>
              </a:r>
              <a:r>
                <a:rPr lang="en-US" altLang="ko-KR" sz="16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Air</a:t>
              </a:r>
              <a:endParaRPr lang="en-US" altLang="ko-KR" sz="1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8" name="모서리가 둥근 직사각형 250">
              <a:extLst>
                <a:ext uri="{FF2B5EF4-FFF2-40B4-BE49-F238E27FC236}">
                  <a16:creationId xmlns:a16="http://schemas.microsoft.com/office/drawing/2014/main" id="{2F53D7E7-4C64-90E8-49FA-DD0D62EF9DEC}"/>
                </a:ext>
              </a:extLst>
            </p:cNvPr>
            <p:cNvSpPr/>
            <p:nvPr/>
          </p:nvSpPr>
          <p:spPr>
            <a:xfrm>
              <a:off x="5172689" y="1478114"/>
              <a:ext cx="4022269" cy="461663"/>
            </a:xfrm>
            <a:prstGeom prst="roundRect">
              <a:avLst>
                <a:gd name="adj" fmla="val 50000"/>
              </a:avLst>
            </a:prstGeom>
            <a:solidFill>
              <a:srgbClr val="0060B8"/>
            </a:solidFill>
            <a:ln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사용 기기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0D805C-CD1C-4550-2BD5-FB384B4B52E2}"/>
              </a:ext>
            </a:extLst>
          </p:cNvPr>
          <p:cNvSpPr/>
          <p:nvPr/>
        </p:nvSpPr>
        <p:spPr>
          <a:xfrm>
            <a:off x="5515898" y="5419841"/>
            <a:ext cx="1695600" cy="365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ko-KR" altLang="en-US" sz="16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블루투스 </a:t>
            </a:r>
            <a:r>
              <a:rPr lang="ko-KR" altLang="en-US" sz="16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동글</a:t>
            </a:r>
            <a:endParaRPr lang="en-US" altLang="ko-KR" sz="1600" dirty="0">
              <a:solidFill>
                <a:prstClr val="black">
                  <a:lumMod val="95000"/>
                  <a:lumOff val="5000"/>
                </a:prstClr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cs typeface="KoPubWorld돋움체_Pro Bold" panose="000008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1CFCCF-4D7A-A833-DDF7-9B7737BB2C4C}"/>
              </a:ext>
            </a:extLst>
          </p:cNvPr>
          <p:cNvSpPr/>
          <p:nvPr/>
        </p:nvSpPr>
        <p:spPr>
          <a:xfrm>
            <a:off x="7656544" y="5419841"/>
            <a:ext cx="1696819" cy="365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Bef>
                <a:spcPts val="600"/>
              </a:spcBef>
            </a:pPr>
            <a:r>
              <a:rPr lang="en-US" altLang="ko-KR" sz="16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TactSuit</a:t>
            </a:r>
            <a:r>
              <a:rPr lang="en-US" altLang="ko-KR" sz="16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KoPubWorld돋움체_Pro Bold" panose="00000800000000000000" pitchFamily="50" charset="-127"/>
              </a:rPr>
              <a:t> Air</a:t>
            </a:r>
          </a:p>
        </p:txBody>
      </p:sp>
      <p:pic>
        <p:nvPicPr>
          <p:cNvPr id="7" name="그림 6" descr="의류, 보호복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ECE7C1-2560-11CF-17CF-607A1D98B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953" y="3642843"/>
            <a:ext cx="1695600" cy="1695600"/>
          </a:xfrm>
          <a:prstGeom prst="rect">
            <a:avLst/>
          </a:prstGeom>
        </p:spPr>
      </p:pic>
      <p:pic>
        <p:nvPicPr>
          <p:cNvPr id="9" name="그림 8" descr="USB 플래시 드라이브, 플래시 메모리, 데이터 저장 장치, 드라이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38E7D4-9CA0-B86B-3AD4-FFCBAE875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235" y="3538900"/>
            <a:ext cx="1880941" cy="188094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70B042-CBA2-3831-F38C-A390ADD934FD}"/>
              </a:ext>
            </a:extLst>
          </p:cNvPr>
          <p:cNvSpPr/>
          <p:nvPr/>
        </p:nvSpPr>
        <p:spPr>
          <a:xfrm>
            <a:off x="596574" y="829952"/>
            <a:ext cx="1088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ko-KR" altLang="en-US" sz="20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 환경</a:t>
            </a:r>
            <a:endParaRPr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3103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AF545-AB3F-7A99-215C-3B18EFCF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5241EE8-DD10-B905-5C62-F979456A6F7B}"/>
              </a:ext>
            </a:extLst>
          </p:cNvPr>
          <p:cNvSpPr/>
          <p:nvPr/>
        </p:nvSpPr>
        <p:spPr>
          <a:xfrm>
            <a:off x="65713" y="96417"/>
            <a:ext cx="495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Ⅲ.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개발 환경 및 예상 결과물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81C7E8-CA33-49B9-FBF0-50168A2E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19</a:t>
            </a:fld>
            <a:endParaRPr kumimoji="1" lang="ko-Kore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712793-E772-D2ED-D03F-AE9734EFCBE3}"/>
              </a:ext>
            </a:extLst>
          </p:cNvPr>
          <p:cNvGrpSpPr/>
          <p:nvPr/>
        </p:nvGrpSpPr>
        <p:grpSpPr>
          <a:xfrm>
            <a:off x="426707" y="835131"/>
            <a:ext cx="1450243" cy="400110"/>
            <a:chOff x="426707" y="780267"/>
            <a:chExt cx="1450243" cy="40011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4BDD8CD-F191-7688-C579-C5D47EFDC9BB}"/>
                </a:ext>
              </a:extLst>
            </p:cNvPr>
            <p:cNvSpPr/>
            <p:nvPr/>
          </p:nvSpPr>
          <p:spPr>
            <a:xfrm>
              <a:off x="528504" y="780267"/>
              <a:ext cx="13484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b="1" spc="-15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예상 결과물</a:t>
              </a:r>
              <a:endParaRPr lang="ko-Kore-KR" altLang="en-US" sz="200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CC22E36A-05EC-479A-6540-7C9AB9884BAC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246F35A-77C2-7EAC-A83F-1A70E8DCA855}"/>
              </a:ext>
            </a:extLst>
          </p:cNvPr>
          <p:cNvSpPr txBox="1"/>
          <p:nvPr/>
        </p:nvSpPr>
        <p:spPr>
          <a:xfrm>
            <a:off x="451335" y="4785962"/>
            <a:ext cx="9454665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600" b="1" dirty="0">
                <a:solidFill>
                  <a:schemeClr val="tx1"/>
                </a:solidFill>
              </a:rPr>
              <a:t>무선 웨어러블 기기의 무선 보안 취약점 확인 및 분석</a:t>
            </a:r>
            <a:br>
              <a:rPr kumimoji="1" lang="en-US" altLang="ko-KR" sz="1600" b="1" dirty="0"/>
            </a:br>
            <a:r>
              <a:rPr kumimoji="1" lang="ko-KR" altLang="en-US" sz="1600" dirty="0"/>
              <a:t>기기 </a:t>
            </a:r>
            <a:r>
              <a:rPr kumimoji="1" lang="ko-KR" altLang="en-US" sz="1600" dirty="0">
                <a:solidFill>
                  <a:schemeClr val="tx1"/>
                </a:solidFill>
              </a:rPr>
              <a:t>공격을 통해 조작한 데이터를 외부로 전송하여 사용자는 피해를 입음</a:t>
            </a:r>
            <a:endParaRPr kumimoji="1" lang="en-US" altLang="ko-KR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600" b="1" dirty="0">
                <a:solidFill>
                  <a:schemeClr val="tx1"/>
                </a:solidFill>
              </a:rPr>
              <a:t>보안 대응책 개발</a:t>
            </a:r>
            <a:br>
              <a:rPr kumimoji="1" lang="en-US" altLang="ko-KR" sz="1600" b="1" dirty="0"/>
            </a:br>
            <a:r>
              <a:rPr kumimoji="1" lang="en-US" altLang="ko-KR" sz="1600" dirty="0"/>
              <a:t>Transformer</a:t>
            </a:r>
            <a:r>
              <a:rPr kumimoji="1" lang="ko-KR" altLang="en-US" sz="1600" dirty="0"/>
              <a:t>기반 </a:t>
            </a:r>
            <a:r>
              <a:rPr kumimoji="1" lang="en-US" altLang="ko-KR" sz="1600" dirty="0"/>
              <a:t>AI</a:t>
            </a:r>
            <a:r>
              <a:rPr kumimoji="1" lang="ko-KR" altLang="en-US" sz="1600" dirty="0"/>
              <a:t> 보안 대응책 개발하여</a:t>
            </a:r>
            <a:r>
              <a:rPr lang="en-US" altLang="ko-KR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BLE </a:t>
            </a:r>
            <a:r>
              <a:rPr lang="ko-KR" altLang="en-US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무선 웨어러블</a:t>
            </a:r>
            <a:r>
              <a:rPr lang="en-US" altLang="ko-KR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기기의 보안 극대화</a:t>
            </a:r>
            <a:endParaRPr lang="en-US" altLang="ko-KR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 descr="컴퓨터, 텍스트, 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CD22A6-2FC7-6FB0-A7B5-B781106B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91"/>
          <a:stretch>
            <a:fillRect/>
          </a:stretch>
        </p:blipFill>
        <p:spPr>
          <a:xfrm>
            <a:off x="1636825" y="1235241"/>
            <a:ext cx="6763970" cy="329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36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AA232-9D71-5248-80ED-BF37EB07F537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D3EC49-B928-D472-A8F6-6FBFD0C7853E}"/>
              </a:ext>
            </a:extLst>
          </p:cNvPr>
          <p:cNvSpPr/>
          <p:nvPr/>
        </p:nvSpPr>
        <p:spPr>
          <a:xfrm>
            <a:off x="379252" y="2067886"/>
            <a:ext cx="5971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Ⅳ.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프로젝트 향후 계획 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D235B2-FD72-621F-98AA-B125D31259BA}"/>
              </a:ext>
            </a:extLst>
          </p:cNvPr>
          <p:cNvSpPr/>
          <p:nvPr/>
        </p:nvSpPr>
        <p:spPr>
          <a:xfrm>
            <a:off x="379252" y="1381747"/>
            <a:ext cx="633194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웨어러블 기기의 잠재적인 블루투스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보안 위협 및 </a:t>
            </a:r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AI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기반 대응 방안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865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D42F-AC11-E7A3-478D-9DFCB2DD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65A1F2B-9BE1-DA30-2F14-A60DE17B4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5898"/>
              </p:ext>
            </p:extLst>
          </p:nvPr>
        </p:nvGraphicFramePr>
        <p:xfrm>
          <a:off x="713062" y="1353674"/>
          <a:ext cx="8641097" cy="50253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1953">
                  <a:extLst>
                    <a:ext uri="{9D8B030D-6E8A-4147-A177-3AD203B41FA5}">
                      <a16:colId xmlns:a16="http://schemas.microsoft.com/office/drawing/2014/main" val="1295093238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3335411680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4072275096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2447297839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2055667106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3215372163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1126669709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3246433220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430427799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1472650398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2993128446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1045979321"/>
                    </a:ext>
                  </a:extLst>
                </a:gridCol>
                <a:gridCol w="583262">
                  <a:extLst>
                    <a:ext uri="{9D8B030D-6E8A-4147-A177-3AD203B41FA5}">
                      <a16:colId xmlns:a16="http://schemas.microsoft.com/office/drawing/2014/main" val="3559355376"/>
                    </a:ext>
                  </a:extLst>
                </a:gridCol>
              </a:tblGrid>
              <a:tr h="57934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4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5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6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7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8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9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10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12</a:t>
                      </a:r>
                      <a:r>
                        <a:rPr lang="ko-KR" altLang="en-US" sz="14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0136636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자료</a:t>
                      </a:r>
                      <a:r>
                        <a:rPr lang="en-US" altLang="ko-KR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조사 및 주제 선정</a:t>
                      </a:r>
                      <a:endParaRPr lang="en-US" altLang="ko-KR" sz="12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156588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BLE</a:t>
                      </a:r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장비 취약점 및</a:t>
                      </a:r>
                      <a:br>
                        <a:rPr lang="en-US" altLang="ko-KR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공격방식 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5365808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BLE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장비 공격 및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취약점 분석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010918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취약점 해결을 위한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학습 모델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225115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시현 및 테스트</a:t>
                      </a:r>
                      <a:br>
                        <a:rPr lang="en-US" altLang="ko-KR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en-US" altLang="ko-KR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진행중</a:t>
                      </a:r>
                      <a:r>
                        <a:rPr lang="en-US" altLang="ko-KR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rgbClr val="0000FF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155360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작품 완성 및</a:t>
                      </a:r>
                      <a:endParaRPr lang="en-US" altLang="ko-KR" sz="1200" dirty="0">
                        <a:solidFill>
                          <a:srgbClr val="0000FF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전시회 출품</a:t>
                      </a:r>
                      <a:endParaRPr lang="en-US" altLang="ko-KR" sz="1200" dirty="0">
                        <a:solidFill>
                          <a:srgbClr val="0000FF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진행중</a:t>
                      </a:r>
                      <a:r>
                        <a:rPr lang="en-US" altLang="ko-KR" sz="1200" dirty="0">
                          <a:solidFill>
                            <a:srgbClr val="0000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2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049107"/>
                  </a:ext>
                </a:extLst>
              </a:tr>
              <a:tr h="634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프로젝트 결과 보고서 및 논문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solidFill>
                      <a:srgbClr val="60A3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061703"/>
                  </a:ext>
                </a:extLst>
              </a:tr>
            </a:tbl>
          </a:graphicData>
        </a:graphic>
      </p:graphicFrame>
      <p:sp>
        <p:nvSpPr>
          <p:cNvPr id="111" name="슬라이드 번호 개체 틀 1">
            <a:extLst>
              <a:ext uri="{FF2B5EF4-FFF2-40B4-BE49-F238E27FC236}">
                <a16:creationId xmlns:a16="http://schemas.microsoft.com/office/drawing/2014/main" id="{06AABE2F-787C-6B14-5F32-8D9A59B4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21</a:t>
            </a:fld>
            <a:endParaRPr kumimoji="1"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06E5D2-2743-EC57-15F9-82AAAF17FDEB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Ⅳ</a:t>
            </a:r>
            <a:r>
              <a:rPr kumimoji="1" lang="en-US" altLang="ko-KR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2400" spc="-1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프로젝트 향후 계획</a:t>
            </a:r>
            <a:endParaRPr kumimoji="1" lang="en-US" altLang="ko-KR" sz="2400" spc="-15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F7C23FE-92B8-AE34-4D60-0C3A2B33BBAA}"/>
              </a:ext>
            </a:extLst>
          </p:cNvPr>
          <p:cNvGrpSpPr/>
          <p:nvPr/>
        </p:nvGrpSpPr>
        <p:grpSpPr>
          <a:xfrm>
            <a:off x="426707" y="835131"/>
            <a:ext cx="2094650" cy="400110"/>
            <a:chOff x="426707" y="780267"/>
            <a:chExt cx="2094650" cy="4001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D6A895-3DDA-F402-C5F1-269DED50540B}"/>
                </a:ext>
              </a:extLst>
            </p:cNvPr>
            <p:cNvSpPr/>
            <p:nvPr/>
          </p:nvSpPr>
          <p:spPr>
            <a:xfrm>
              <a:off x="528504" y="780267"/>
              <a:ext cx="199285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b="1" spc="-15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계획대비 진행상황</a:t>
              </a:r>
              <a:endParaRPr lang="ko-Kore-KR" altLang="en-US" sz="200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9F3BFAC-EE54-8811-981F-4E27434DA939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72330C0-EBDC-25CA-CC92-6999AFAAEC67}"/>
              </a:ext>
            </a:extLst>
          </p:cNvPr>
          <p:cNvSpPr/>
          <p:nvPr/>
        </p:nvSpPr>
        <p:spPr>
          <a:xfrm>
            <a:off x="2387576" y="2112062"/>
            <a:ext cx="1145249" cy="25527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8F0E6FD-B7B3-A547-0ABB-0D8E18DE1219}"/>
              </a:ext>
            </a:extLst>
          </p:cNvPr>
          <p:cNvSpPr/>
          <p:nvPr/>
        </p:nvSpPr>
        <p:spPr>
          <a:xfrm>
            <a:off x="3532829" y="3413149"/>
            <a:ext cx="2310410" cy="25527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52584-C12D-8534-B630-3753F5146EE3}"/>
              </a:ext>
            </a:extLst>
          </p:cNvPr>
          <p:cNvSpPr txBox="1"/>
          <p:nvPr/>
        </p:nvSpPr>
        <p:spPr>
          <a:xfrm>
            <a:off x="6896704" y="835131"/>
            <a:ext cx="1436486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중간발표</a:t>
            </a:r>
            <a:r>
              <a:rPr lang="en-US" altLang="ko-KR" sz="1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255B02CA-005E-B0BF-BF5C-84D62C13E84C}"/>
              </a:ext>
            </a:extLst>
          </p:cNvPr>
          <p:cNvSpPr/>
          <p:nvPr/>
        </p:nvSpPr>
        <p:spPr>
          <a:xfrm>
            <a:off x="2936973" y="2765763"/>
            <a:ext cx="1145236" cy="25527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화살표: 오른쪽 11">
            <a:extLst>
              <a:ext uri="{FF2B5EF4-FFF2-40B4-BE49-F238E27FC236}">
                <a16:creationId xmlns:a16="http://schemas.microsoft.com/office/drawing/2014/main" id="{3EA9D8E8-5724-138D-4D8A-CE52C4B3843F}"/>
              </a:ext>
            </a:extLst>
          </p:cNvPr>
          <p:cNvSpPr/>
          <p:nvPr/>
        </p:nvSpPr>
        <p:spPr>
          <a:xfrm>
            <a:off x="5253432" y="4034744"/>
            <a:ext cx="1203119" cy="25527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11">
            <a:extLst>
              <a:ext uri="{FF2B5EF4-FFF2-40B4-BE49-F238E27FC236}">
                <a16:creationId xmlns:a16="http://schemas.microsoft.com/office/drawing/2014/main" id="{44661E0C-B1D1-65AA-BC83-F28D7986BC99}"/>
              </a:ext>
            </a:extLst>
          </p:cNvPr>
          <p:cNvSpPr/>
          <p:nvPr/>
        </p:nvSpPr>
        <p:spPr>
          <a:xfrm>
            <a:off x="5253432" y="4667822"/>
            <a:ext cx="2906243" cy="255270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17">
            <a:extLst>
              <a:ext uri="{FF2B5EF4-FFF2-40B4-BE49-F238E27FC236}">
                <a16:creationId xmlns:a16="http://schemas.microsoft.com/office/drawing/2014/main" id="{3886E808-6148-9516-AA8D-C684E86F31E1}"/>
              </a:ext>
            </a:extLst>
          </p:cNvPr>
          <p:cNvCxnSpPr>
            <a:cxnSpLocks/>
          </p:cNvCxnSpPr>
          <p:nvPr/>
        </p:nvCxnSpPr>
        <p:spPr>
          <a:xfrm>
            <a:off x="7617347" y="1280509"/>
            <a:ext cx="0" cy="531209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화살표: 오른쪽 11">
            <a:extLst>
              <a:ext uri="{FF2B5EF4-FFF2-40B4-BE49-F238E27FC236}">
                <a16:creationId xmlns:a16="http://schemas.microsoft.com/office/drawing/2014/main" id="{C4331837-FBF3-E2B9-381F-6FD76D64D8EC}"/>
              </a:ext>
            </a:extLst>
          </p:cNvPr>
          <p:cNvSpPr/>
          <p:nvPr/>
        </p:nvSpPr>
        <p:spPr>
          <a:xfrm>
            <a:off x="6999758" y="5265267"/>
            <a:ext cx="1159918" cy="312224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8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499A795B-AEDA-9340-96B1-7B51D7C8D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FAA232-9D71-5248-80ED-BF37EB07F537}"/>
              </a:ext>
            </a:extLst>
          </p:cNvPr>
          <p:cNvSpPr/>
          <p:nvPr/>
        </p:nvSpPr>
        <p:spPr>
          <a:xfrm>
            <a:off x="0" y="989901"/>
            <a:ext cx="9906000" cy="215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5618EE-C221-0FE4-3CCC-D598074410B4}"/>
              </a:ext>
            </a:extLst>
          </p:cNvPr>
          <p:cNvSpPr/>
          <p:nvPr/>
        </p:nvSpPr>
        <p:spPr>
          <a:xfrm>
            <a:off x="379252" y="2067886"/>
            <a:ext cx="5775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Malayalam MN" pitchFamily="2" charset="0"/>
              </a:rPr>
              <a:t>Ⅴ</a:t>
            </a:r>
            <a:r>
              <a:rPr kumimoji="1" lang="en-US" altLang="ko-KR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. </a:t>
            </a:r>
            <a:r>
              <a:rPr kumimoji="1" lang="ko-KR" altLang="en-US" sz="3600" b="1" spc="-150" dirty="0">
                <a:gradFill>
                  <a:gsLst>
                    <a:gs pos="0">
                      <a:srgbClr val="1A93CA"/>
                    </a:gs>
                    <a:gs pos="76000">
                      <a:srgbClr val="00498E"/>
                    </a:gs>
                  </a:gsLst>
                  <a:lin ang="5400000" scaled="1"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ayalam MN" pitchFamily="2" charset="0"/>
              </a:rPr>
              <a:t>기대효과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FAEE60-770B-4F4E-FA29-6AADD884AA5E}"/>
              </a:ext>
            </a:extLst>
          </p:cNvPr>
          <p:cNvSpPr/>
          <p:nvPr/>
        </p:nvSpPr>
        <p:spPr>
          <a:xfrm>
            <a:off x="379252" y="1381747"/>
            <a:ext cx="633194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웨어러블 기기의 잠재적인 블루투스 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  <a:p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보안 위협 및 </a:t>
            </a:r>
            <a:r>
              <a:rPr kumimoji="1" lang="en-US" altLang="ko-KR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AI </a:t>
            </a:r>
            <a:r>
              <a:rPr kumimoji="1" lang="ko-KR" altLang="en-US" sz="1600" spc="-150" dirty="0">
                <a:solidFill>
                  <a:srgbClr val="1A93C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기반 대응 방안</a:t>
            </a:r>
            <a:endParaRPr kumimoji="1" lang="en-US" altLang="ko-KR" sz="1600" spc="-150" dirty="0">
              <a:solidFill>
                <a:srgbClr val="1A93C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563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1C0EE-DCE1-5A6A-049B-938510BA7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3AB87D45-49AF-0B42-86DF-88F3A539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38575" y="6472238"/>
            <a:ext cx="2228850" cy="365125"/>
          </a:xfrm>
          <a:prstGeom prst="rect">
            <a:avLst/>
          </a:prstGeom>
        </p:spPr>
        <p:txBody>
          <a:bodyPr/>
          <a:lstStyle/>
          <a:p>
            <a:fld id="{873927E6-8B9F-0640-88B8-E9C1DF982289}" type="slidenum">
              <a:rPr kumimoji="1" lang="ko-Kore-KR" altLang="en-US" smtClean="0"/>
              <a:pPr/>
              <a:t>23</a:t>
            </a:fld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DE4B38-5765-E6DB-1CA2-2B054E164B95}"/>
              </a:ext>
            </a:extLst>
          </p:cNvPr>
          <p:cNvSpPr/>
          <p:nvPr/>
        </p:nvSpPr>
        <p:spPr>
          <a:xfrm>
            <a:off x="65714" y="96417"/>
            <a:ext cx="3515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333641" algn="l"/>
              </a:tabLst>
            </a:pPr>
            <a:r>
              <a:rPr kumimoji="1" lang="en-US" altLang="ko-KR" sz="2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ayalam MN" pitchFamily="2" charset="0"/>
              </a:rPr>
              <a:t>Ⅵ. </a:t>
            </a:r>
            <a:r>
              <a:rPr kumimoji="1" lang="ko-KR" altLang="en-US" sz="2400" spc="-1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ayalam MN" pitchFamily="2" charset="0"/>
              </a:rPr>
              <a:t>기대 효과</a:t>
            </a:r>
            <a:endParaRPr kumimoji="1" lang="en-US" altLang="ko-KR" sz="2400" spc="-1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Malayalam MN" pitchFamily="2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D9579AC-830A-8CAC-9F31-70DBD910D8D3}"/>
              </a:ext>
            </a:extLst>
          </p:cNvPr>
          <p:cNvGrpSpPr/>
          <p:nvPr/>
        </p:nvGrpSpPr>
        <p:grpSpPr>
          <a:xfrm>
            <a:off x="426707" y="835131"/>
            <a:ext cx="1190557" cy="400110"/>
            <a:chOff x="426707" y="780267"/>
            <a:chExt cx="1190557" cy="40011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7D0C23-DE97-D7D6-36E2-AE9B4F75C8B1}"/>
                </a:ext>
              </a:extLst>
            </p:cNvPr>
            <p:cNvSpPr/>
            <p:nvPr/>
          </p:nvSpPr>
          <p:spPr>
            <a:xfrm>
              <a:off x="528504" y="780267"/>
              <a:ext cx="10887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ko-KR" altLang="en-US" sz="2000" spc="-150" dirty="0">
                  <a:gradFill>
                    <a:gsLst>
                      <a:gs pos="0">
                        <a:srgbClr val="1A93CA"/>
                      </a:gs>
                      <a:gs pos="76000">
                        <a:srgbClr val="00498E"/>
                      </a:gs>
                    </a:gsLst>
                    <a:lin ang="5400000" scaled="1"/>
                  </a:gra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기대 효과</a:t>
              </a:r>
              <a:endParaRPr lang="ko-Kore-KR" altLang="en-US" sz="2000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A393EE9-BDD0-BAF1-E3A7-749497CFB9B6}"/>
                </a:ext>
              </a:extLst>
            </p:cNvPr>
            <p:cNvSpPr/>
            <p:nvPr/>
          </p:nvSpPr>
          <p:spPr>
            <a:xfrm>
              <a:off x="426707" y="894748"/>
              <a:ext cx="101797" cy="101797"/>
            </a:xfrm>
            <a:prstGeom prst="ellipse">
              <a:avLst/>
            </a:prstGeom>
            <a:gradFill>
              <a:gsLst>
                <a:gs pos="0">
                  <a:srgbClr val="1A93CA"/>
                </a:gs>
                <a:gs pos="76000">
                  <a:srgbClr val="00498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1558E5-A8DB-485C-D2D7-B4BF9967C8C1}"/>
              </a:ext>
            </a:extLst>
          </p:cNvPr>
          <p:cNvSpPr/>
          <p:nvPr/>
        </p:nvSpPr>
        <p:spPr>
          <a:xfrm>
            <a:off x="528504" y="1486265"/>
            <a:ext cx="8920800" cy="1223932"/>
          </a:xfrm>
          <a:prstGeom prst="roundRect">
            <a:avLst/>
          </a:prstGeom>
          <a:solidFill>
            <a:srgbClr val="F2F2F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</a:rPr>
              <a:t>웨어러블 기기 </a:t>
            </a:r>
            <a:r>
              <a:rPr lang="ko-KR" altLang="en-US" dirty="0">
                <a:solidFill>
                  <a:srgbClr val="0000FF"/>
                </a:solidFill>
              </a:rPr>
              <a:t>보안성 강화</a:t>
            </a:r>
            <a:r>
              <a:rPr lang="en-US" altLang="ko-KR" sz="1400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</a:t>
            </a:r>
            <a:b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400" b="1" dirty="0">
                <a:solidFill>
                  <a:schemeClr val="tx1"/>
                </a:solidFill>
              </a:rPr>
              <a:t>BLE </a:t>
            </a:r>
            <a:r>
              <a:rPr lang="ko-KR" altLang="en-US" sz="1400" b="1" dirty="0">
                <a:solidFill>
                  <a:schemeClr val="tx1"/>
                </a:solidFill>
              </a:rPr>
              <a:t>기반 무선 웨어러블 기기</a:t>
            </a:r>
            <a:r>
              <a:rPr lang="ko-KR" altLang="en-US" sz="1400" dirty="0">
                <a:solidFill>
                  <a:schemeClr val="tx1"/>
                </a:solidFill>
              </a:rPr>
              <a:t>의 </a:t>
            </a:r>
            <a:r>
              <a:rPr lang="ko-KR" altLang="en-US" sz="1400" b="1" dirty="0">
                <a:solidFill>
                  <a:schemeClr val="tx1"/>
                </a:solidFill>
              </a:rPr>
              <a:t>무결성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인증 취약점</a:t>
            </a:r>
            <a:r>
              <a:rPr lang="ko-KR" altLang="en-US" sz="1400" dirty="0">
                <a:solidFill>
                  <a:schemeClr val="tx1"/>
                </a:solidFill>
              </a:rPr>
              <a:t>을 실험적으로 검증하여 위험성을 명확히 제시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8926F3A-FBBE-E3C4-ED63-75DBEA3F0F11}"/>
              </a:ext>
            </a:extLst>
          </p:cNvPr>
          <p:cNvSpPr/>
          <p:nvPr/>
        </p:nvSpPr>
        <p:spPr>
          <a:xfrm>
            <a:off x="528504" y="3125507"/>
            <a:ext cx="8920800" cy="1223932"/>
          </a:xfrm>
          <a:prstGeom prst="roundRect">
            <a:avLst/>
          </a:prstGeom>
          <a:solidFill>
            <a:srgbClr val="F2F2F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효율적인 </a:t>
            </a:r>
            <a:r>
              <a:rPr lang="ko-KR" altLang="en-US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공격 탐지 시스템 </a:t>
            </a:r>
            <a:b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기반 실시간 패킷 이상 탐지 기법</a:t>
            </a:r>
            <a:r>
              <a:rPr lang="ko-KR" altLang="en-US" sz="1400" dirty="0">
                <a:solidFill>
                  <a:schemeClr val="tx1"/>
                </a:solidFill>
              </a:rPr>
              <a:t>을 제안하여 방어 체계 고도화</a:t>
            </a:r>
            <a:endParaRPr lang="ko-KR" altLang="en-US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FF3627F-68CA-BE94-DC18-40A8104848F5}"/>
              </a:ext>
            </a:extLst>
          </p:cNvPr>
          <p:cNvSpPr/>
          <p:nvPr/>
        </p:nvSpPr>
        <p:spPr>
          <a:xfrm>
            <a:off x="528504" y="4739320"/>
            <a:ext cx="8920800" cy="1223932"/>
          </a:xfrm>
          <a:prstGeom prst="roundRect">
            <a:avLst/>
          </a:prstGeom>
          <a:solidFill>
            <a:srgbClr val="F2F2F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기존 보안 방법과 함께 </a:t>
            </a:r>
            <a:r>
              <a:rPr lang="ko-KR" altLang="en-US" dirty="0">
                <a:solidFill>
                  <a:srgbClr val="0000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다층적인 보안 체계 구축</a:t>
            </a:r>
            <a:endParaRPr lang="en-US" altLang="ko-KR" dirty="0">
              <a:solidFill>
                <a:srgbClr val="0000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</a:t>
            </a:r>
            <a:r>
              <a:rPr lang="ko-KR" altLang="en-US" sz="1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다른 보안 시스템과 통합하여 보다 효과적인 보안 체계 구축 가능</a:t>
            </a:r>
            <a:endParaRPr lang="en-US" altLang="ko-KR" sz="14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1665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7F25-5C04-8FF9-E9EA-0F1A4D76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>
            <a:extLst>
              <a:ext uri="{FF2B5EF4-FFF2-40B4-BE49-F238E27FC236}">
                <a16:creationId xmlns:a16="http://schemas.microsoft.com/office/drawing/2014/main" id="{B735E3A8-9A7B-04A9-3F6C-C38AE4F4E7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7" r="6859"/>
          <a:stretch/>
        </p:blipFill>
        <p:spPr>
          <a:xfrm>
            <a:off x="0" y="0"/>
            <a:ext cx="9905987" cy="685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726C98-C1BF-3BF6-B929-53DF4420C9BF}"/>
              </a:ext>
            </a:extLst>
          </p:cNvPr>
          <p:cNvSpPr/>
          <p:nvPr/>
        </p:nvSpPr>
        <p:spPr>
          <a:xfrm>
            <a:off x="-13" y="0"/>
            <a:ext cx="9906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ore-KR" altLang="en-US" sz="36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A932E2F-EF86-B5C2-546C-D1875440D91E}"/>
              </a:ext>
            </a:extLst>
          </p:cNvPr>
          <p:cNvSpPr txBox="1"/>
          <p:nvPr/>
        </p:nvSpPr>
        <p:spPr>
          <a:xfrm>
            <a:off x="3446003" y="3105834"/>
            <a:ext cx="2879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600" spc="1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감사합니다 </a:t>
            </a:r>
            <a:r>
              <a:rPr kumimoji="1" lang="en-US" altLang="ko-KR" sz="3600" spc="1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</a:t>
            </a:r>
            <a:endParaRPr kumimoji="1" lang="ko-Kore-KR" altLang="en-US" sz="3600" spc="1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372411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2541</TotalTime>
  <Words>1306</Words>
  <Application>Microsoft Office PowerPoint</Application>
  <PresentationFormat>A4 용지(210x297mm)</PresentationFormat>
  <Paragraphs>212</Paragraphs>
  <Slides>24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5" baseType="lpstr">
      <vt:lpstr>KoPubDotum Medium</vt:lpstr>
      <vt:lpstr>NanumGothic</vt:lpstr>
      <vt:lpstr>나눔스퀘어 Bold</vt:lpstr>
      <vt:lpstr>나눔스퀘어 ExtraBold</vt:lpstr>
      <vt:lpstr>나눔스퀘어OTF Bold</vt:lpstr>
      <vt:lpstr>맑은 고딕</vt:lpstr>
      <vt:lpstr>Arial</vt:lpstr>
      <vt:lpstr>Calibri</vt:lpstr>
      <vt:lpstr>Calibri Light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나성균</dc:creator>
  <cp:lastModifiedBy>다은 이</cp:lastModifiedBy>
  <cp:revision>32</cp:revision>
  <cp:lastPrinted>2021-12-22T04:43:14Z</cp:lastPrinted>
  <dcterms:created xsi:type="dcterms:W3CDTF">2021-08-02T08:08:44Z</dcterms:created>
  <dcterms:modified xsi:type="dcterms:W3CDTF">2025-10-12T12:31:03Z</dcterms:modified>
</cp:coreProperties>
</file>